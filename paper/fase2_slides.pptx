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6.xml" ContentType="application/vnd.openxmlformats-officedocument.presentationml.slide+xml"/>
  <Override PartName="/ppt/notesSlides/notesSlide30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34.xml" ContentType="application/vnd.openxmlformats-officedocument.presentationml.notesSlide+xml"/>
  <Override PartName="/ppt/slideLayouts/slideLayout3.xml" ContentType="application/vnd.openxmlformats-officedocument.presentationml.slideLayout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notesSlides/notesSlide3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3.xml" ContentType="application/vnd.openxmlformats-officedocument.presentationml.notes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s/slide32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notesSlides/notesSlide31.xml" ContentType="application/vnd.openxmlformats-officedocument.presentationml.notesSlide+xml"/>
  <Override PartName="/ppt/notesSlides/notesSlide28.xml" ContentType="application/vnd.openxmlformats-officedocument.presentationml.notesSlide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29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27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4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</p:sldIdLst>
  <p:sldSz cx="12191695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 /><Relationship Id="rId43" Type="http://schemas.openxmlformats.org/officeDocument/2006/relationships/tableStyles" Target="tableStyles.xml" /><Relationship Id="rId4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15621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732016257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11088555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6047024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5361344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38768292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 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 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 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05033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79047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11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BCBB92F-1F47-13A2-ABB8-19CC2ECC7F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6330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951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167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B2B1B7-AA89-DB01-1B23-8F4A772932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17410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0975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7553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A0347D9-D024-1C58-FB3B-26F1A8D783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5322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459460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9561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8EFB55-EB27-B52D-831E-AA7CEB2A4E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587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62236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8435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6FFEC9F-7692-DA05-D6A9-A22099F14BC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1694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01613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680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632E12-8311-0B87-6402-8C858906D4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71861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114069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901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E39E31-68A7-EF50-4556-E463C1F3B70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2599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983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6926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EDA216-D9F9-50CE-22AB-EC338BB160D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8536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1406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CE4B51C-83A7-3BB3-9B92-880642E7A1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5070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62409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980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752795-FE91-5376-C4CF-837F8B2D40F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27686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13565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46635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1274DC1-FE69-6A5E-0C04-DE7C5E4C55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3572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40974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7938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264E0D-3520-9291-FC4D-A2C292C0804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59392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35861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762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C88E1-9AF9-E678-4C8D-06BA8CE50E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4158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0922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302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4ADD8B-F584-97F7-AF70-B2BA64FD9C7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98928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015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2835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345FA4-3221-9783-5F3C-73B9FACEA3F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6326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78947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265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F35766B-FCFD-C4F8-8D44-35BB192C418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6967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88064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30739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624789-27B7-3590-7054-54DC62CA73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41972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1692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01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0BB91F-6238-9EFC-F46D-8CCA278127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520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76580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1803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7E8839-8112-CEC5-6523-CDFB851ADE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43963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3878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60430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1564CE-CF34-CDCD-5373-EE20D44866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3572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0536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8560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281B25-AEF7-F53B-F059-A7EE883FFDB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1362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2953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617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5F71E62-5999-26D4-0512-C0E6377555D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1978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79220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2622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CC46C6-0846-005F-8091-A6D7BA986B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5497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78720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9513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85674D-88E6-AD28-D1D0-5E29E335CF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6746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352371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804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C867EE-0425-C2BC-D480-F8F5D079287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78166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01980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556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9F58F1-E8AD-9FF7-37BF-78E6ED4F5E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43441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1572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6262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FE0CAC-9416-BA3D-E425-0D03EA9690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3565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16995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1197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31C864-89EF-CB16-9891-2B2970BED6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6866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77782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5995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95B3E67-CD2B-C63A-3A21-2E3680EEE1C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59424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234629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2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474809-5EE7-BFB5-DDB6-5F579C13F5D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570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1985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2673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D1067F-30A2-6B26-F348-02BA0533F5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7846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3696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4162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DA723B3-C3DD-7B00-CD33-8713B40E2B4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7838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5321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69852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E2096BF-C964-D035-6129-720D6DE31A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2723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3646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8729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A02F9B-47B8-4086-8A93-071A5427C29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0467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78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2230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45C3B9-2AC4-6EA8-AAD9-17692D48195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018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2533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8651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B34979-632B-152C-E2DC-56F605D5F64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34849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87850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971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B24052-AE4E-F496-481C-4920D3E2CC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893101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8108731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9279875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72721079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642040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367853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7213145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44106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4454790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96676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19480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6545350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42000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9762647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549642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997533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0366339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272315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247621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39213897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7044144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4047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4290030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0942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9040697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6632763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604107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33516986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8133008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851343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4231538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77634359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1577088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167838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2423534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4031723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555364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72728849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5148857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088894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8870113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1026201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4294168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630677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25366651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4546869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9939498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691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3922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367455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293039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5379269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007317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45685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220986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573343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43841745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217308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027089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8483184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8100581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0275560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9148773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6.pn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2A4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2071109" name="Rectangle 1"/>
          <p:cNvSpPr/>
          <p:nvPr/>
        </p:nvSpPr>
        <p:spPr bwMode="auto">
          <a:xfrm>
            <a:off x="0" y="0"/>
            <a:ext cx="164592" cy="6858000"/>
          </a:xfrm>
          <a:prstGeom prst="rect">
            <a:avLst/>
          </a:prstGeom>
          <a:solidFill>
            <a:srgbClr val="E0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16038569" name="Rectangle 2"/>
          <p:cNvSpPr/>
          <p:nvPr/>
        </p:nvSpPr>
        <p:spPr bwMode="auto">
          <a:xfrm>
            <a:off x="164592" y="5394960"/>
            <a:ext cx="12191695" cy="146304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72225235" name="TextBox 3"/>
          <p:cNvSpPr txBox="1"/>
          <p:nvPr/>
        </p:nvSpPr>
        <p:spPr bwMode="auto">
          <a:xfrm>
            <a:off x="365760" y="914400"/>
            <a:ext cx="11704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3400" b="1" i="0">
                <a:solidFill>
                  <a:srgbClr val="FFFFFF"/>
                </a:solidFill>
              </a:rPr>
              <a:t>Da Prática à Modelagem Estocástica</a:t>
            </a:r>
            <a:endParaRPr/>
          </a:p>
        </p:txBody>
      </p:sp>
      <p:sp>
        <p:nvSpPr>
          <p:cNvPr id="1360013260" name="TextBox 4"/>
          <p:cNvSpPr txBox="1"/>
          <p:nvPr/>
        </p:nvSpPr>
        <p:spPr bwMode="auto">
          <a:xfrm>
            <a:off x="365760" y="19659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200" b="0" i="0">
                <a:solidFill>
                  <a:srgbClr val="5BB4F5"/>
                </a:solidFill>
              </a:rPr>
              <a:t>Validação Cruzada de um Protocolo R-UDP Go-Back-N</a:t>
            </a:r>
            <a:br>
              <a:rPr sz="2200" b="0" i="0">
                <a:solidFill>
                  <a:srgbClr val="5BB4F5"/>
                </a:solidFill>
              </a:rPr>
            </a:br>
            <a:r>
              <a:rPr sz="2200" b="0" i="0">
                <a:solidFill>
                  <a:srgbClr val="5BB4F5"/>
                </a:solidFill>
              </a:rPr>
              <a:t>entre Emulação e Simulação de Eventos Discretos</a:t>
            </a:r>
            <a:endParaRPr/>
          </a:p>
        </p:txBody>
      </p:sp>
      <p:cxnSp>
        <p:nvCxnSpPr>
          <p:cNvPr id="1583513867" name="Connector 5"/>
          <p:cNvCxnSpPr/>
          <p:nvPr/>
        </p:nvCxnSpPr>
        <p:spPr bwMode="auto">
          <a:xfrm>
            <a:off x="365760" y="3200400"/>
            <a:ext cx="11430000" cy="0"/>
          </a:xfrm>
          <a:prstGeom prst="line">
            <a:avLst/>
          </a:prstGeom>
          <a:ln w="25400">
            <a:solidFill>
              <a:srgbClr val="E0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8184992" name="TextBox 6"/>
          <p:cNvSpPr txBox="1"/>
          <p:nvPr/>
        </p:nvSpPr>
        <p:spPr bwMode="auto">
          <a:xfrm>
            <a:off x="365760" y="33832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800" b="1" i="0">
                <a:solidFill>
                  <a:srgbClr val="FFFFFF"/>
                </a:solidFill>
              </a:rPr>
              <a:t>Anthony Irlan Marques Luz</a:t>
            </a:r>
            <a:endParaRPr/>
          </a:p>
        </p:txBody>
      </p:sp>
      <p:sp>
        <p:nvSpPr>
          <p:cNvPr id="1751830752" name="TextBox 7"/>
          <p:cNvSpPr txBox="1"/>
          <p:nvPr/>
        </p:nvSpPr>
        <p:spPr bwMode="auto">
          <a:xfrm>
            <a:off x="365760" y="3886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5BB4F5"/>
                </a:solidFill>
              </a:rPr>
              <a:t>PPGCC — Universidade Federal do Piauí (UFPI) | Picos–PI</a:t>
            </a:r>
            <a:endParaRPr/>
          </a:p>
        </p:txBody>
      </p:sp>
      <p:sp>
        <p:nvSpPr>
          <p:cNvPr id="799910229" name="TextBox 8"/>
          <p:cNvSpPr txBox="1"/>
          <p:nvPr/>
        </p:nvSpPr>
        <p:spPr bwMode="auto">
          <a:xfrm>
            <a:off x="365760" y="5577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FFFFFF"/>
                </a:solidFill>
              </a:rPr>
              <a:t>Redes de Computadores · Fase 2 · 2025</a:t>
            </a:r>
            <a:endParaRPr/>
          </a:p>
        </p:txBody>
      </p:sp>
      <p:sp>
        <p:nvSpPr>
          <p:cNvPr id="333370611" name="TextBox 9"/>
          <p:cNvSpPr txBox="1"/>
          <p:nvPr/>
        </p:nvSpPr>
        <p:spPr bwMode="auto">
          <a:xfrm>
            <a:off x="365760" y="6035039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0" i="0">
                <a:solidFill>
                  <a:srgbClr val="5BB4F5"/>
                </a:solidFill>
              </a:rPr>
              <a:t>🔗 github.com/PLACEHOLDER-REPOSITORIO</a:t>
            </a:r>
            <a:br>
              <a:rPr sz="1300" b="0" i="0">
                <a:solidFill>
                  <a:srgbClr val="5BB4F5"/>
                </a:solidFill>
              </a:rPr>
            </a:br>
            <a:r>
              <a:rPr sz="1300" b="0" i="0">
                <a:solidFill>
                  <a:srgbClr val="5BB4F5"/>
                </a:solidFill>
              </a:rPr>
              <a:t>▶ youtube.com/PLACEHOLDER-VIDEO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108061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20415384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Agenda</a:t>
            </a:r>
            <a:endParaRPr/>
          </a:p>
        </p:txBody>
      </p:sp>
      <p:sp>
        <p:nvSpPr>
          <p:cNvPr id="545202590" name="Rectangle 3"/>
          <p:cNvSpPr/>
          <p:nvPr/>
        </p:nvSpPr>
        <p:spPr bwMode="auto">
          <a:xfrm>
            <a:off x="365760" y="1280160"/>
            <a:ext cx="320040" cy="438912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5369127" name="TextBox 4"/>
          <p:cNvSpPr txBox="1"/>
          <p:nvPr/>
        </p:nvSpPr>
        <p:spPr bwMode="auto">
          <a:xfrm>
            <a:off x="384048" y="1298448"/>
            <a:ext cx="27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FFFFFF"/>
                </a:solidFill>
              </a:rPr>
              <a:t>1</a:t>
            </a:r>
            <a:endParaRPr/>
          </a:p>
        </p:txBody>
      </p:sp>
      <p:sp>
        <p:nvSpPr>
          <p:cNvPr id="25162766" name="TextBox 5"/>
          <p:cNvSpPr txBox="1"/>
          <p:nvPr/>
        </p:nvSpPr>
        <p:spPr bwMode="auto">
          <a:xfrm>
            <a:off x="822960" y="123444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0" i="0">
                <a:solidFill>
                  <a:srgbClr val="444444"/>
                </a:solidFill>
              </a:rPr>
              <a:t>1. Motivação e contribuições</a:t>
            </a:r>
            <a:endParaRPr/>
          </a:p>
        </p:txBody>
      </p:sp>
      <p:sp>
        <p:nvSpPr>
          <p:cNvPr id="1158527024" name="Rectangle 7"/>
          <p:cNvSpPr/>
          <p:nvPr/>
        </p:nvSpPr>
        <p:spPr bwMode="auto">
          <a:xfrm>
            <a:off x="365760" y="1984248"/>
            <a:ext cx="320040" cy="438912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95569157" name="TextBox 8"/>
          <p:cNvSpPr txBox="1"/>
          <p:nvPr/>
        </p:nvSpPr>
        <p:spPr bwMode="auto">
          <a:xfrm>
            <a:off x="384048" y="2002536"/>
            <a:ext cx="27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FFFFFF"/>
                </a:solidFill>
              </a:rPr>
              <a:t>2</a:t>
            </a:r>
            <a:endParaRPr/>
          </a:p>
        </p:txBody>
      </p:sp>
      <p:sp>
        <p:nvSpPr>
          <p:cNvPr id="656681502" name="TextBox 9"/>
          <p:cNvSpPr txBox="1"/>
          <p:nvPr/>
        </p:nvSpPr>
        <p:spPr bwMode="auto">
          <a:xfrm>
            <a:off x="822960" y="193852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0" i="0">
                <a:solidFill>
                  <a:srgbClr val="444444"/>
                </a:solidFill>
              </a:rPr>
              <a:t>2. Sistema real: Docker + tc/netem + GBN</a:t>
            </a:r>
            <a:endParaRPr/>
          </a:p>
        </p:txBody>
      </p:sp>
      <p:sp>
        <p:nvSpPr>
          <p:cNvPr id="1725805509" name="Rectangle 11"/>
          <p:cNvSpPr/>
          <p:nvPr/>
        </p:nvSpPr>
        <p:spPr bwMode="auto">
          <a:xfrm>
            <a:off x="365760" y="2688336"/>
            <a:ext cx="320040" cy="438912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83305766" name="TextBox 12"/>
          <p:cNvSpPr txBox="1"/>
          <p:nvPr/>
        </p:nvSpPr>
        <p:spPr bwMode="auto">
          <a:xfrm>
            <a:off x="384048" y="2706624"/>
            <a:ext cx="27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FFFFFF"/>
                </a:solidFill>
              </a:rPr>
              <a:t>3</a:t>
            </a:r>
            <a:endParaRPr/>
          </a:p>
        </p:txBody>
      </p:sp>
      <p:sp>
        <p:nvSpPr>
          <p:cNvPr id="468863311" name="TextBox 13"/>
          <p:cNvSpPr txBox="1"/>
          <p:nvPr/>
        </p:nvSpPr>
        <p:spPr bwMode="auto">
          <a:xfrm>
            <a:off x="822960" y="2642616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0" i="0">
                <a:solidFill>
                  <a:srgbClr val="444444"/>
                </a:solidFill>
              </a:rPr>
              <a:t>3. Modelo estocástico de eventos discretos (SimPy)</a:t>
            </a:r>
            <a:endParaRPr/>
          </a:p>
        </p:txBody>
      </p:sp>
      <p:sp>
        <p:nvSpPr>
          <p:cNvPr id="359445741" name="Rectangle 15"/>
          <p:cNvSpPr/>
          <p:nvPr/>
        </p:nvSpPr>
        <p:spPr bwMode="auto">
          <a:xfrm>
            <a:off x="365760" y="3392424"/>
            <a:ext cx="320040" cy="438912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0808998" name="TextBox 16"/>
          <p:cNvSpPr txBox="1"/>
          <p:nvPr/>
        </p:nvSpPr>
        <p:spPr bwMode="auto">
          <a:xfrm>
            <a:off x="384048" y="3410712"/>
            <a:ext cx="27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FFFFFF"/>
                </a:solidFill>
              </a:rPr>
              <a:t>4</a:t>
            </a:r>
            <a:endParaRPr/>
          </a:p>
        </p:txBody>
      </p:sp>
      <p:sp>
        <p:nvSpPr>
          <p:cNvPr id="844450362" name="TextBox 17"/>
          <p:cNvSpPr txBox="1"/>
          <p:nvPr/>
        </p:nvSpPr>
        <p:spPr bwMode="auto">
          <a:xfrm>
            <a:off x="822960" y="3346704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0" i="0">
                <a:solidFill>
                  <a:srgbClr val="444444"/>
                </a:solidFill>
              </a:rPr>
              <a:t>4. Calibração e convergência estatística</a:t>
            </a:r>
            <a:endParaRPr/>
          </a:p>
        </p:txBody>
      </p:sp>
      <p:sp>
        <p:nvSpPr>
          <p:cNvPr id="402775026" name="Rectangle 19"/>
          <p:cNvSpPr/>
          <p:nvPr/>
        </p:nvSpPr>
        <p:spPr bwMode="auto">
          <a:xfrm>
            <a:off x="365760" y="4096511"/>
            <a:ext cx="320040" cy="438912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49635025" name="TextBox 20"/>
          <p:cNvSpPr txBox="1"/>
          <p:nvPr/>
        </p:nvSpPr>
        <p:spPr bwMode="auto">
          <a:xfrm>
            <a:off x="384048" y="4114800"/>
            <a:ext cx="27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FFFFFF"/>
                </a:solidFill>
              </a:rPr>
              <a:t>5</a:t>
            </a:r>
            <a:endParaRPr/>
          </a:p>
        </p:txBody>
      </p:sp>
      <p:sp>
        <p:nvSpPr>
          <p:cNvPr id="485793369" name="TextBox 21"/>
          <p:cNvSpPr txBox="1"/>
          <p:nvPr/>
        </p:nvSpPr>
        <p:spPr bwMode="auto">
          <a:xfrm>
            <a:off x="822960" y="4050791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0" i="0">
                <a:solidFill>
                  <a:srgbClr val="444444"/>
                </a:solidFill>
              </a:rPr>
              <a:t>5. As 10 tarefas de validação</a:t>
            </a:r>
            <a:endParaRPr/>
          </a:p>
        </p:txBody>
      </p:sp>
      <p:sp>
        <p:nvSpPr>
          <p:cNvPr id="167405517" name="Rectangle 23"/>
          <p:cNvSpPr/>
          <p:nvPr/>
        </p:nvSpPr>
        <p:spPr bwMode="auto">
          <a:xfrm>
            <a:off x="365760" y="4800600"/>
            <a:ext cx="320040" cy="438912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2999533" name="TextBox 24"/>
          <p:cNvSpPr txBox="1"/>
          <p:nvPr/>
        </p:nvSpPr>
        <p:spPr bwMode="auto">
          <a:xfrm>
            <a:off x="384048" y="4818888"/>
            <a:ext cx="27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FFFFFF"/>
                </a:solidFill>
              </a:rPr>
              <a:t>6</a:t>
            </a:r>
            <a:endParaRPr/>
          </a:p>
        </p:txBody>
      </p:sp>
      <p:sp>
        <p:nvSpPr>
          <p:cNvPr id="1373159269" name="TextBox 25"/>
          <p:cNvSpPr txBox="1"/>
          <p:nvPr/>
        </p:nvSpPr>
        <p:spPr bwMode="auto">
          <a:xfrm>
            <a:off x="822960" y="475488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0" i="0">
                <a:solidFill>
                  <a:srgbClr val="444444"/>
                </a:solidFill>
              </a:rPr>
              <a:t>6. Discussão: teoria vs. prática de rede</a:t>
            </a:r>
            <a:endParaRPr/>
          </a:p>
        </p:txBody>
      </p:sp>
      <p:sp>
        <p:nvSpPr>
          <p:cNvPr id="1279307278" name="Rectangle 27"/>
          <p:cNvSpPr/>
          <p:nvPr/>
        </p:nvSpPr>
        <p:spPr bwMode="auto">
          <a:xfrm>
            <a:off x="365760" y="5504687"/>
            <a:ext cx="320040" cy="438912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00849207" name="TextBox 28"/>
          <p:cNvSpPr txBox="1"/>
          <p:nvPr/>
        </p:nvSpPr>
        <p:spPr bwMode="auto">
          <a:xfrm>
            <a:off x="384048" y="5522976"/>
            <a:ext cx="27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FFFFFF"/>
                </a:solidFill>
              </a:rPr>
              <a:t>7</a:t>
            </a:r>
            <a:endParaRPr/>
          </a:p>
        </p:txBody>
      </p:sp>
      <p:sp>
        <p:nvSpPr>
          <p:cNvPr id="531106442" name="TextBox 29"/>
          <p:cNvSpPr txBox="1"/>
          <p:nvPr/>
        </p:nvSpPr>
        <p:spPr bwMode="auto">
          <a:xfrm>
            <a:off x="822960" y="545896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0" i="0">
                <a:solidFill>
                  <a:srgbClr val="444444"/>
                </a:solidFill>
              </a:rPr>
              <a:t>7. Conclusão e trabalhos futuros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2A4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0642237" name="Rectangle 1"/>
          <p:cNvSpPr/>
          <p:nvPr/>
        </p:nvSpPr>
        <p:spPr bwMode="auto">
          <a:xfrm>
            <a:off x="0" y="0"/>
            <a:ext cx="109728" cy="685800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00626717" name="TextBox 2"/>
          <p:cNvSpPr txBox="1"/>
          <p:nvPr/>
        </p:nvSpPr>
        <p:spPr bwMode="auto">
          <a:xfrm>
            <a:off x="320040" y="2011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4600" b="1" i="0">
                <a:solidFill>
                  <a:srgbClr val="FFFFFF"/>
                </a:solidFill>
              </a:rPr>
              <a:t>1. Motivação</a:t>
            </a:r>
            <a:endParaRPr/>
          </a:p>
        </p:txBody>
      </p:sp>
      <p:sp>
        <p:nvSpPr>
          <p:cNvPr id="687693198" name="TextBox 3"/>
          <p:cNvSpPr txBox="1"/>
          <p:nvPr/>
        </p:nvSpPr>
        <p:spPr bwMode="auto">
          <a:xfrm>
            <a:off x="320040" y="3566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200" b="0" i="0">
                <a:solidFill>
                  <a:srgbClr val="5BB4F5"/>
                </a:solidFill>
              </a:rPr>
              <a:t>Por que modelar R-UDP com eventos discretos?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529123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9118386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Motivação e Pergunta Central</a:t>
            </a:r>
            <a:endParaRPr/>
          </a:p>
        </p:txBody>
      </p:sp>
      <p:sp>
        <p:nvSpPr>
          <p:cNvPr id="1917140989" name="TextBox 3"/>
          <p:cNvSpPr txBox="1"/>
          <p:nvPr/>
        </p:nvSpPr>
        <p:spPr bwMode="auto"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E06C0A"/>
                </a:solidFill>
              </a:rPr>
              <a:t>Questão de pesquisa</a:t>
            </a:r>
            <a:endParaRPr/>
          </a:p>
        </p:txBody>
      </p:sp>
      <p:sp>
        <p:nvSpPr>
          <p:cNvPr id="811782100" name="Rectangle 4"/>
          <p:cNvSpPr/>
          <p:nvPr/>
        </p:nvSpPr>
        <p:spPr bwMode="auto">
          <a:xfrm>
            <a:off x="365760" y="1463040"/>
            <a:ext cx="11430000" cy="105156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10366917" name="TextBox 5"/>
          <p:cNvSpPr txBox="1"/>
          <p:nvPr/>
        </p:nvSpPr>
        <p:spPr bwMode="auto">
          <a:xfrm>
            <a:off x="502920" y="1508759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800" b="0" i="0">
                <a:solidFill>
                  <a:srgbClr val="FFFFFF"/>
                </a:solidFill>
              </a:rPr>
              <a:t>Um modelo estocástico parcimonioso — sem fatores de ajuste — consegue reproduzir</a:t>
            </a:r>
            <a:br>
              <a:rPr sz="1800" b="0" i="0">
                <a:solidFill>
                  <a:srgbClr val="FFFFFF"/>
                </a:solidFill>
              </a:rPr>
            </a:br>
            <a:r>
              <a:rPr sz="1800" b="0" i="0">
                <a:solidFill>
                  <a:srgbClr val="FFFFFF"/>
                </a:solidFill>
              </a:rPr>
              <a:t>o comportamento real de um protocolo R-UDP GBN sobre uma faixa de 200× nos tempos de transferência?</a:t>
            </a:r>
            <a:endParaRPr/>
          </a:p>
        </p:txBody>
      </p:sp>
      <p:sp>
        <p:nvSpPr>
          <p:cNvPr id="998881348" name="TextBox 6"/>
          <p:cNvSpPr txBox="1"/>
          <p:nvPr/>
        </p:nvSpPr>
        <p:spPr bwMode="auto">
          <a:xfrm>
            <a:off x="365760" y="2697480"/>
            <a:ext cx="11430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Confiabilidade pode ser implementada sobre UDP (R-UDP) em espaço de usuário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Isso expõe diretamente os mecanismos GBN: janela, timeout, retransmissão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Medições em Docker/tc-netem proveem linha de base empírica confiável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Simulador validado → explorar pontos não medidos sem novos experimentos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1952371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8472504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Quatro Contribuições Principais</a:t>
            </a:r>
            <a:endParaRPr/>
          </a:p>
        </p:txBody>
      </p:sp>
      <p:sp>
        <p:nvSpPr>
          <p:cNvPr id="1951559292" name="Rectangle 3"/>
          <p:cNvSpPr/>
          <p:nvPr/>
        </p:nvSpPr>
        <p:spPr bwMode="auto">
          <a:xfrm>
            <a:off x="365760" y="1143000"/>
            <a:ext cx="658368" cy="77724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04246950" name="TextBox 4"/>
          <p:cNvSpPr txBox="1"/>
          <p:nvPr/>
        </p:nvSpPr>
        <p:spPr bwMode="auto">
          <a:xfrm>
            <a:off x="365760" y="1188720"/>
            <a:ext cx="65836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3000" b="1" i="0">
                <a:solidFill>
                  <a:srgbClr val="FFFFFF"/>
                </a:solidFill>
              </a:rPr>
              <a:t>①</a:t>
            </a:r>
            <a:endParaRPr/>
          </a:p>
        </p:txBody>
      </p:sp>
      <p:sp>
        <p:nvSpPr>
          <p:cNvPr id="869610029" name="TextBox 5"/>
          <p:cNvSpPr txBox="1"/>
          <p:nvPr/>
        </p:nvSpPr>
        <p:spPr bwMode="auto">
          <a:xfrm>
            <a:off x="114300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900" b="1" i="0">
                <a:solidFill>
                  <a:srgbClr val="102A4A"/>
                </a:solidFill>
              </a:rPr>
              <a:t>Motor GBN de eventos discretos em SimPy</a:t>
            </a:r>
            <a:endParaRPr/>
          </a:p>
        </p:txBody>
      </p:sp>
      <p:sp>
        <p:nvSpPr>
          <p:cNvPr id="1670099949" name="TextBox 6"/>
          <p:cNvSpPr txBox="1"/>
          <p:nvPr/>
        </p:nvSpPr>
        <p:spPr bwMode="auto">
          <a:xfrm>
            <a:off x="1143000" y="16184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Tempo e retransmissões emergem da dinâmica de eventos — sem equações fechadas ad hoc</a:t>
            </a:r>
            <a:endParaRPr/>
          </a:p>
        </p:txBody>
      </p:sp>
      <p:sp>
        <p:nvSpPr>
          <p:cNvPr id="904791264" name="Rectangle 7"/>
          <p:cNvSpPr/>
          <p:nvPr/>
        </p:nvSpPr>
        <p:spPr bwMode="auto">
          <a:xfrm>
            <a:off x="365760" y="2441448"/>
            <a:ext cx="658368" cy="777240"/>
          </a:xfrm>
          <a:prstGeom prst="rect">
            <a:avLst/>
          </a:prstGeom>
          <a:solidFill>
            <a:srgbClr val="E0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0304004" name="TextBox 8"/>
          <p:cNvSpPr txBox="1"/>
          <p:nvPr/>
        </p:nvSpPr>
        <p:spPr bwMode="auto">
          <a:xfrm>
            <a:off x="365760" y="2487168"/>
            <a:ext cx="65836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3000" b="1" i="0">
                <a:solidFill>
                  <a:srgbClr val="FFFFFF"/>
                </a:solidFill>
              </a:rPr>
              <a:t>②</a:t>
            </a:r>
            <a:endParaRPr/>
          </a:p>
        </p:txBody>
      </p:sp>
      <p:sp>
        <p:nvSpPr>
          <p:cNvPr id="1734313471" name="TextBox 9"/>
          <p:cNvSpPr txBox="1"/>
          <p:nvPr/>
        </p:nvSpPr>
        <p:spPr bwMode="auto">
          <a:xfrm>
            <a:off x="1143000" y="244144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900" b="1" i="0">
                <a:solidFill>
                  <a:srgbClr val="102A4A"/>
                </a:solidFill>
              </a:rPr>
              <a:t>Calibração em faixa de 200×</a:t>
            </a:r>
            <a:endParaRPr/>
          </a:p>
        </p:txBody>
      </p:sp>
      <p:sp>
        <p:nvSpPr>
          <p:cNvPr id="1452141399" name="TextBox 10"/>
          <p:cNvSpPr txBox="1"/>
          <p:nvPr/>
        </p:nvSpPr>
        <p:spPr bwMode="auto">
          <a:xfrm>
            <a:off x="1143000" y="291693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Erro entre 1,0% e 7,4% ao longo de 0,67 s a 145 s; análise por IC bootstrap</a:t>
            </a:r>
            <a:endParaRPr/>
          </a:p>
        </p:txBody>
      </p:sp>
      <p:sp>
        <p:nvSpPr>
          <p:cNvPr id="473313023" name="Rectangle 11"/>
          <p:cNvSpPr/>
          <p:nvPr/>
        </p:nvSpPr>
        <p:spPr bwMode="auto">
          <a:xfrm>
            <a:off x="365760" y="3739896"/>
            <a:ext cx="658368" cy="77724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43124950" name="TextBox 12"/>
          <p:cNvSpPr txBox="1"/>
          <p:nvPr/>
        </p:nvSpPr>
        <p:spPr bwMode="auto">
          <a:xfrm>
            <a:off x="365760" y="3785615"/>
            <a:ext cx="65836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3000" b="1" i="0">
                <a:solidFill>
                  <a:srgbClr val="FFFFFF"/>
                </a:solidFill>
              </a:rPr>
              <a:t>③</a:t>
            </a:r>
            <a:endParaRPr/>
          </a:p>
        </p:txBody>
      </p:sp>
      <p:sp>
        <p:nvSpPr>
          <p:cNvPr id="543248143" name="TextBox 13"/>
          <p:cNvSpPr txBox="1"/>
          <p:nvPr/>
        </p:nvSpPr>
        <p:spPr bwMode="auto">
          <a:xfrm>
            <a:off x="1143000" y="373989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900" b="1" i="0">
                <a:solidFill>
                  <a:srgbClr val="102A4A"/>
                </a:solidFill>
              </a:rPr>
              <a:t>10 tarefas de validação</a:t>
            </a:r>
            <a:endParaRPr/>
          </a:p>
        </p:txBody>
      </p:sp>
      <p:sp>
        <p:nvSpPr>
          <p:cNvPr id="833725770" name="TextBox 14"/>
          <p:cNvSpPr txBox="1"/>
          <p:nvPr/>
        </p:nvSpPr>
        <p:spPr bwMode="auto">
          <a:xfrm>
            <a:off x="1143000" y="4215383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Cada tarefa confrontada com limite analítico: teto janela/RTT, BDP, lei 1/(1−p)</a:t>
            </a:r>
            <a:endParaRPr/>
          </a:p>
        </p:txBody>
      </p:sp>
      <p:sp>
        <p:nvSpPr>
          <p:cNvPr id="1639204158" name="Rectangle 15"/>
          <p:cNvSpPr/>
          <p:nvPr/>
        </p:nvSpPr>
        <p:spPr bwMode="auto">
          <a:xfrm>
            <a:off x="365760" y="5038344"/>
            <a:ext cx="658368" cy="77724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66275690" name="TextBox 16"/>
          <p:cNvSpPr txBox="1"/>
          <p:nvPr/>
        </p:nvSpPr>
        <p:spPr bwMode="auto">
          <a:xfrm>
            <a:off x="365760" y="5084064"/>
            <a:ext cx="65836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3000" b="1" i="0">
                <a:solidFill>
                  <a:srgbClr val="FFFFFF"/>
                </a:solidFill>
              </a:rPr>
              <a:t>④</a:t>
            </a:r>
            <a:endParaRPr/>
          </a:p>
        </p:txBody>
      </p:sp>
      <p:sp>
        <p:nvSpPr>
          <p:cNvPr id="1287910470" name="TextBox 17"/>
          <p:cNvSpPr txBox="1"/>
          <p:nvPr/>
        </p:nvSpPr>
        <p:spPr bwMode="auto">
          <a:xfrm>
            <a:off x="1143000" y="503834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900" b="1" i="0">
                <a:solidFill>
                  <a:srgbClr val="102A4A"/>
                </a:solidFill>
              </a:rPr>
              <a:t>Diagnóstico das discrepâncias</a:t>
            </a:r>
            <a:endParaRPr/>
          </a:p>
        </p:txBody>
      </p:sp>
      <p:sp>
        <p:nvSpPr>
          <p:cNvPr id="407965607" name="TextBox 18"/>
          <p:cNvSpPr txBox="1"/>
          <p:nvPr/>
        </p:nvSpPr>
        <p:spPr bwMode="auto">
          <a:xfrm>
            <a:off x="1143000" y="5513831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Identifica onde a teoria estocástica diverge da prática e por quê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2A4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578202" name="Rectangle 1"/>
          <p:cNvSpPr/>
          <p:nvPr/>
        </p:nvSpPr>
        <p:spPr bwMode="auto">
          <a:xfrm>
            <a:off x="0" y="0"/>
            <a:ext cx="109728" cy="685800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92546316" name="TextBox 2"/>
          <p:cNvSpPr txBox="1"/>
          <p:nvPr/>
        </p:nvSpPr>
        <p:spPr bwMode="auto">
          <a:xfrm>
            <a:off x="320040" y="2011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4600" b="1" i="0">
                <a:solidFill>
                  <a:srgbClr val="FFFFFF"/>
                </a:solidFill>
              </a:rPr>
              <a:t>2. Sistema Real</a:t>
            </a:r>
            <a:endParaRPr/>
          </a:p>
        </p:txBody>
      </p:sp>
      <p:sp>
        <p:nvSpPr>
          <p:cNvPr id="873391736" name="TextBox 3"/>
          <p:cNvSpPr txBox="1"/>
          <p:nvPr/>
        </p:nvSpPr>
        <p:spPr bwMode="auto">
          <a:xfrm>
            <a:off x="320040" y="3566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200" b="0" i="0">
                <a:solidFill>
                  <a:srgbClr val="5BB4F5"/>
                </a:solidFill>
              </a:rPr>
              <a:t>Protocolo R-UDP GBN + Docker + tc/netem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698471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14210132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Arquitetura do Sistema Real</a:t>
            </a:r>
            <a:endParaRPr/>
          </a:p>
        </p:txBody>
      </p:sp>
      <p:sp>
        <p:nvSpPr>
          <p:cNvPr id="46367646" name="TextBox 3"/>
          <p:cNvSpPr txBox="1"/>
          <p:nvPr/>
        </p:nvSpPr>
        <p:spPr bwMode="auto">
          <a:xfrm>
            <a:off x="365760" y="1097280"/>
            <a:ext cx="5577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800" b="1">
                <a:solidFill>
                  <a:srgbClr val="102A4A"/>
                </a:solidFill>
              </a:rPr>
              <a:t>Infraestrutura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Dois contêineres Ubuntu 22.04 em rede bridge isolada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tc/netem injeta perda e atraso no egress do cliente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Protocolo implementado em Python sobre raw UDP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Integridade verificada por checksum MD5 fim-a-fim</a:t>
            </a:r>
            <a:endParaRPr/>
          </a:p>
        </p:txBody>
      </p:sp>
      <p:sp>
        <p:nvSpPr>
          <p:cNvPr id="1355714591" name="Rectangle 4"/>
          <p:cNvSpPr/>
          <p:nvPr/>
        </p:nvSpPr>
        <p:spPr bwMode="auto">
          <a:xfrm>
            <a:off x="6217920" y="1051560"/>
            <a:ext cx="566928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6B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0365286" name="TextBox 5"/>
          <p:cNvSpPr txBox="1"/>
          <p:nvPr/>
        </p:nvSpPr>
        <p:spPr bwMode="auto">
          <a:xfrm>
            <a:off x="630936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1" i="0">
                <a:solidFill>
                  <a:srgbClr val="1A6BB0"/>
                </a:solidFill>
              </a:rPr>
              <a:t>Diagrama simplificado</a:t>
            </a:r>
            <a:endParaRPr/>
          </a:p>
        </p:txBody>
      </p:sp>
      <p:sp>
        <p:nvSpPr>
          <p:cNvPr id="895397553" name="TextBox 6"/>
          <p:cNvSpPr txBox="1"/>
          <p:nvPr/>
        </p:nvSpPr>
        <p:spPr bwMode="auto">
          <a:xfrm>
            <a:off x="63093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0" i="0">
                <a:solidFill>
                  <a:srgbClr val="102A4A"/>
                </a:solidFill>
              </a:rPr>
              <a:t>┌─────────────┐         ┌─────────────┐</a:t>
            </a:r>
            <a:br>
              <a:rPr sz="1300" b="0" i="0">
                <a:solidFill>
                  <a:srgbClr val="102A4A"/>
                </a:solidFill>
              </a:rPr>
            </a:br>
            <a:r>
              <a:rPr sz="1300" b="0" i="0">
                <a:solidFill>
                  <a:srgbClr val="102A4A"/>
                </a:solidFill>
              </a:rPr>
              <a:t>│   CLIENTE   │──DATA──▶│  SERVIDOR   │</a:t>
            </a:r>
            <a:br>
              <a:rPr sz="1300" b="0" i="0">
                <a:solidFill>
                  <a:srgbClr val="102A4A"/>
                </a:solidFill>
              </a:rPr>
            </a:br>
            <a:r>
              <a:rPr sz="1300" b="0" i="0">
                <a:solidFill>
                  <a:srgbClr val="102A4A"/>
                </a:solidFill>
              </a:rPr>
              <a:t>│  (sender)   │◀──ACK───│  (receiver) │</a:t>
            </a:r>
            <a:br>
              <a:rPr sz="1300" b="0" i="0">
                <a:solidFill>
                  <a:srgbClr val="102A4A"/>
                </a:solidFill>
              </a:rPr>
            </a:br>
            <a:r>
              <a:rPr sz="1300" b="0" i="0">
                <a:solidFill>
                  <a:srgbClr val="102A4A"/>
                </a:solidFill>
              </a:rPr>
              <a:t>└─────────────┘         └─────────────┘</a:t>
            </a:r>
            <a:br>
              <a:rPr sz="1300" b="0" i="0">
                <a:solidFill>
                  <a:srgbClr val="102A4A"/>
                </a:solidFill>
              </a:rPr>
            </a:br>
            <a:r>
              <a:rPr sz="1300" b="0" i="0">
                <a:solidFill>
                  <a:srgbClr val="102A4A"/>
                </a:solidFill>
              </a:rPr>
              <a:t>       │                      │</a:t>
            </a:r>
            <a:br>
              <a:rPr sz="1300" b="0" i="0">
                <a:solidFill>
                  <a:srgbClr val="102A4A"/>
                </a:solidFill>
              </a:rPr>
            </a:br>
            <a:r>
              <a:rPr sz="1300" b="0" i="0">
                <a:solidFill>
                  <a:srgbClr val="102A4A"/>
                </a:solidFill>
              </a:rPr>
              <a:t>  tc/netem                    │</a:t>
            </a:r>
            <a:br>
              <a:rPr sz="1300" b="0" i="0">
                <a:solidFill>
                  <a:srgbClr val="102A4A"/>
                </a:solidFill>
              </a:rPr>
            </a:br>
            <a:r>
              <a:rPr sz="1300" b="0" i="0">
                <a:solidFill>
                  <a:srgbClr val="102A4A"/>
                </a:solidFill>
              </a:rPr>
              <a:t> (perda + atraso)             │</a:t>
            </a:r>
            <a:br>
              <a:rPr sz="1300" b="0" i="0">
                <a:solidFill>
                  <a:srgbClr val="102A4A"/>
                </a:solidFill>
              </a:rPr>
            </a:br>
            <a:r>
              <a:rPr sz="1300" b="0" i="0">
                <a:solidFill>
                  <a:srgbClr val="102A4A"/>
                </a:solidFill>
              </a:rPr>
              <a:t>       │_________Docker_______|</a:t>
            </a:r>
            <a:endParaRPr/>
          </a:p>
        </p:txBody>
      </p:sp>
      <p:sp>
        <p:nvSpPr>
          <p:cNvPr id="1574002987" name="TextBox 7"/>
          <p:cNvSpPr txBox="1"/>
          <p:nvPr/>
        </p:nvSpPr>
        <p:spPr bwMode="auto">
          <a:xfrm flipH="0" flipV="0">
            <a:off x="7103856" y="4419239"/>
            <a:ext cx="4447879" cy="335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E06C0A"/>
                </a:solidFill>
              </a:rPr>
              <a:t>Arquivo de teste: 1 MiB = 256 blocos × 4 096 bytes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228332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16537662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Protocolo Go-Back-N: Parâmetros</a:t>
            </a:r>
            <a:endParaRPr/>
          </a:p>
        </p:txBody>
      </p:sp>
      <p:sp>
        <p:nvSpPr>
          <p:cNvPr id="101813282" name="Rectangle 3"/>
          <p:cNvSpPr/>
          <p:nvPr/>
        </p:nvSpPr>
        <p:spPr bwMode="auto">
          <a:xfrm>
            <a:off x="365760" y="1143000"/>
            <a:ext cx="2560320" cy="59436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09699991" name="TextBox 4"/>
          <p:cNvSpPr txBox="1"/>
          <p:nvPr/>
        </p:nvSpPr>
        <p:spPr bwMode="auto">
          <a:xfrm>
            <a:off x="411480" y="1216151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FFFFFF"/>
                </a:solidFill>
              </a:rPr>
              <a:t>Cabeçalho</a:t>
            </a:r>
            <a:endParaRPr/>
          </a:p>
        </p:txBody>
      </p:sp>
      <p:sp>
        <p:nvSpPr>
          <p:cNvPr id="136084275" name="Rectangle 5"/>
          <p:cNvSpPr/>
          <p:nvPr/>
        </p:nvSpPr>
        <p:spPr bwMode="auto">
          <a:xfrm>
            <a:off x="3017519" y="1143000"/>
            <a:ext cx="877824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F2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75069036" name="TextBox 6"/>
          <p:cNvSpPr txBox="1"/>
          <p:nvPr/>
        </p:nvSpPr>
        <p:spPr bwMode="auto">
          <a:xfrm>
            <a:off x="3154680" y="1216151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0" i="0">
                <a:solidFill>
                  <a:srgbClr val="444444"/>
                </a:solidFill>
              </a:rPr>
              <a:t>16 bytes: tipo, seq, ack, janela, comprimento, CRC-16</a:t>
            </a:r>
            <a:endParaRPr/>
          </a:p>
        </p:txBody>
      </p:sp>
      <p:sp>
        <p:nvSpPr>
          <p:cNvPr id="750229963" name="Rectangle 7"/>
          <p:cNvSpPr/>
          <p:nvPr/>
        </p:nvSpPr>
        <p:spPr bwMode="auto">
          <a:xfrm>
            <a:off x="365760" y="1984248"/>
            <a:ext cx="2560320" cy="59436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6779380" name="TextBox 8"/>
          <p:cNvSpPr txBox="1"/>
          <p:nvPr/>
        </p:nvSpPr>
        <p:spPr bwMode="auto">
          <a:xfrm>
            <a:off x="411480" y="20574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FFFFFF"/>
                </a:solidFill>
              </a:rPr>
              <a:t>Janela</a:t>
            </a:r>
            <a:endParaRPr/>
          </a:p>
        </p:txBody>
      </p:sp>
      <p:sp>
        <p:nvSpPr>
          <p:cNvPr id="1750280901" name="Rectangle 9"/>
          <p:cNvSpPr/>
          <p:nvPr/>
        </p:nvSpPr>
        <p:spPr bwMode="auto">
          <a:xfrm>
            <a:off x="3017519" y="1984248"/>
            <a:ext cx="877824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F2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0612498" name="TextBox 10"/>
          <p:cNvSpPr txBox="1"/>
          <p:nvPr/>
        </p:nvSpPr>
        <p:spPr bwMode="auto">
          <a:xfrm>
            <a:off x="3154680" y="205740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0" i="0">
                <a:solidFill>
                  <a:srgbClr val="444444"/>
                </a:solidFill>
              </a:rPr>
              <a:t>N = 8 pacotes em voo simultâneos</a:t>
            </a:r>
            <a:endParaRPr/>
          </a:p>
        </p:txBody>
      </p:sp>
      <p:sp>
        <p:nvSpPr>
          <p:cNvPr id="262741601" name="Rectangle 11"/>
          <p:cNvSpPr/>
          <p:nvPr/>
        </p:nvSpPr>
        <p:spPr bwMode="auto">
          <a:xfrm>
            <a:off x="365760" y="2825496"/>
            <a:ext cx="2560320" cy="59436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6956098" name="TextBox 12"/>
          <p:cNvSpPr txBox="1"/>
          <p:nvPr/>
        </p:nvSpPr>
        <p:spPr bwMode="auto">
          <a:xfrm>
            <a:off x="411480" y="28986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FFFFFF"/>
                </a:solidFill>
              </a:rPr>
              <a:t>Timeout</a:t>
            </a:r>
            <a:endParaRPr/>
          </a:p>
        </p:txBody>
      </p:sp>
      <p:sp>
        <p:nvSpPr>
          <p:cNvPr id="711930742" name="Rectangle 13"/>
          <p:cNvSpPr/>
          <p:nvPr/>
        </p:nvSpPr>
        <p:spPr bwMode="auto">
          <a:xfrm>
            <a:off x="3017519" y="2825496"/>
            <a:ext cx="877824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F2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02921913" name="TextBox 14"/>
          <p:cNvSpPr txBox="1"/>
          <p:nvPr/>
        </p:nvSpPr>
        <p:spPr bwMode="auto">
          <a:xfrm>
            <a:off x="3154680" y="2898648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0" i="0">
                <a:solidFill>
                  <a:srgbClr val="444444"/>
                </a:solidFill>
              </a:rPr>
              <a:t>0,5 s fixo — retransmite toda a janela a partir da base</a:t>
            </a:r>
            <a:endParaRPr/>
          </a:p>
        </p:txBody>
      </p:sp>
      <p:sp>
        <p:nvSpPr>
          <p:cNvPr id="90698516" name="Rectangle 25"/>
          <p:cNvSpPr/>
          <p:nvPr/>
        </p:nvSpPr>
        <p:spPr bwMode="auto">
          <a:xfrm>
            <a:off x="2971799" y="3662534"/>
            <a:ext cx="877824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F2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84790953" name="TextBox 26"/>
          <p:cNvSpPr txBox="1"/>
          <p:nvPr/>
        </p:nvSpPr>
        <p:spPr bwMode="auto">
          <a:xfrm>
            <a:off x="3108959" y="3735686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0" i="0">
                <a:solidFill>
                  <a:srgbClr val="444444"/>
                </a:solidFill>
              </a:rPr>
              <a:t>1 MiB, 256 blocos de 4 096 bytes</a:t>
            </a:r>
            <a:endParaRPr/>
          </a:p>
        </p:txBody>
      </p:sp>
      <p:grpSp>
        <p:nvGrpSpPr>
          <p:cNvPr id="1398849693" name=""/>
          <p:cNvGrpSpPr/>
          <p:nvPr/>
        </p:nvGrpSpPr>
        <p:grpSpPr bwMode="auto">
          <a:xfrm>
            <a:off x="320039" y="3662534"/>
            <a:ext cx="2560320" cy="594358"/>
            <a:chOff x="0" y="0"/>
            <a:chExt cx="2560320" cy="594358"/>
          </a:xfrm>
        </p:grpSpPr>
        <p:sp>
          <p:nvSpPr>
            <p:cNvPr id="497671635" name="Rectangle 23"/>
            <p:cNvSpPr/>
            <p:nvPr/>
          </p:nvSpPr>
          <p:spPr bwMode="auto">
            <a:xfrm>
              <a:off x="0" y="0"/>
              <a:ext cx="2560320" cy="594360"/>
            </a:xfrm>
            <a:prstGeom prst="rect">
              <a:avLst/>
            </a:prstGeom>
            <a:solidFill>
              <a:srgbClr val="102A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90293897" name="TextBox 24"/>
            <p:cNvSpPr txBox="1"/>
            <p:nvPr/>
          </p:nvSpPr>
          <p:spPr bwMode="auto">
            <a:xfrm>
              <a:off x="45719" y="73152"/>
              <a:ext cx="246888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defRPr/>
              </a:pPr>
              <a:r>
                <a:rPr sz="1600" b="1" i="0">
                  <a:solidFill>
                    <a:srgbClr val="FFFFFF"/>
                  </a:solidFill>
                </a:rPr>
                <a:t>Arquivo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719782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10519540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Fragmentação IP → Perda Efetiva por Bloco</a:t>
            </a:r>
            <a:endParaRPr/>
          </a:p>
        </p:txBody>
      </p:sp>
      <p:sp>
        <p:nvSpPr>
          <p:cNvPr id="241407506" name="Rectangle 3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3100409" name="TextBox 4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Fragmentação IP → Perda Efetiva por Bloco</a:t>
            </a:r>
            <a:endParaRPr/>
          </a:p>
        </p:txBody>
      </p:sp>
      <p:sp>
        <p:nvSpPr>
          <p:cNvPr id="782674573" name="TextBox 5"/>
          <p:cNvSpPr txBox="1"/>
          <p:nvPr/>
        </p:nvSpPr>
        <p:spPr bwMode="auto">
          <a:xfrm>
            <a:off x="365760" y="1097280"/>
            <a:ext cx="6858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Cada datagrama DATA = 4 112 bytes &gt; MTU Ethernet (1 500 bytes)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→ fragmentado em 3 pacotes IP pelo sistema operacional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netem descarta cada pacote IP com probabilidade p (independente)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Um bloco é entregue só se todos os 3 fragmentos sobreviverem</a:t>
            </a:r>
            <a:endParaRPr/>
          </a:p>
        </p:txBody>
      </p:sp>
      <p:sp>
        <p:nvSpPr>
          <p:cNvPr id="229623063" name="Rectangle 6"/>
          <p:cNvSpPr/>
          <p:nvPr/>
        </p:nvSpPr>
        <p:spPr bwMode="auto">
          <a:xfrm>
            <a:off x="365760" y="3703320"/>
            <a:ext cx="6858000" cy="118872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2584211" name="TextBox 7"/>
          <p:cNvSpPr txBox="1"/>
          <p:nvPr/>
        </p:nvSpPr>
        <p:spPr bwMode="auto">
          <a:xfrm>
            <a:off x="548640" y="3794760"/>
            <a:ext cx="6401160" cy="518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2800" b="1" i="0">
                <a:solidFill>
                  <a:srgbClr val="FFFFFF"/>
                </a:solidFill>
              </a:rPr>
              <a:t>pef  =  1 − (1 − p)³</a:t>
            </a:r>
            <a:endParaRPr/>
          </a:p>
        </p:txBody>
      </p:sp>
      <p:sp>
        <p:nvSpPr>
          <p:cNvPr id="969558000" name="TextBox 8"/>
          <p:cNvSpPr txBox="1"/>
          <p:nvPr/>
        </p:nvSpPr>
        <p:spPr bwMode="auto">
          <a:xfrm>
            <a:off x="548640" y="43891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5BB4F5"/>
                </a:solidFill>
              </a:rPr>
              <a:t>p = probabilidade netem por pacote IP</a:t>
            </a:r>
            <a:endParaRPr/>
          </a:p>
        </p:txBody>
      </p:sp>
      <p:sp>
        <p:nvSpPr>
          <p:cNvPr id="1303911043" name="Rectangle 9"/>
          <p:cNvSpPr/>
          <p:nvPr/>
        </p:nvSpPr>
        <p:spPr bwMode="auto">
          <a:xfrm>
            <a:off x="7498079" y="1051560"/>
            <a:ext cx="4389120" cy="3566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A6B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1348034" name="TextBox 10"/>
          <p:cNvSpPr txBox="1"/>
          <p:nvPr/>
        </p:nvSpPr>
        <p:spPr bwMode="auto">
          <a:xfrm>
            <a:off x="7589520" y="10972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1A6BB0"/>
                </a:solidFill>
              </a:rPr>
              <a:t>Conversão de perda</a:t>
            </a:r>
            <a:endParaRPr/>
          </a:p>
        </p:txBody>
      </p:sp>
      <p:sp>
        <p:nvSpPr>
          <p:cNvPr id="41059669" name="TextBox 11"/>
          <p:cNvSpPr txBox="1"/>
          <p:nvPr/>
        </p:nvSpPr>
        <p:spPr bwMode="auto">
          <a:xfrm>
            <a:off x="7543800" y="150875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102A4A"/>
                </a:solidFill>
              </a:rPr>
              <a:t>Cenário</a:t>
            </a:r>
            <a:endParaRPr/>
          </a:p>
        </p:txBody>
      </p:sp>
      <p:sp>
        <p:nvSpPr>
          <p:cNvPr id="892571730" name="TextBox 12"/>
          <p:cNvSpPr txBox="1"/>
          <p:nvPr/>
        </p:nvSpPr>
        <p:spPr bwMode="auto">
          <a:xfrm>
            <a:off x="8961120" y="150875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102A4A"/>
                </a:solidFill>
              </a:rPr>
              <a:t>p bruta</a:t>
            </a:r>
            <a:endParaRPr/>
          </a:p>
        </p:txBody>
      </p:sp>
      <p:sp>
        <p:nvSpPr>
          <p:cNvPr id="211256029" name="TextBox 13"/>
          <p:cNvSpPr txBox="1"/>
          <p:nvPr/>
        </p:nvSpPr>
        <p:spPr bwMode="auto">
          <a:xfrm>
            <a:off x="10378440" y="1508759"/>
            <a:ext cx="1371960" cy="30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102A4A"/>
                </a:solidFill>
              </a:rPr>
              <a:t>pef</a:t>
            </a:r>
            <a:endParaRPr/>
          </a:p>
        </p:txBody>
      </p:sp>
      <p:cxnSp>
        <p:nvCxnSpPr>
          <p:cNvPr id="1455984554" name="Connector 14"/>
          <p:cNvCxnSpPr/>
          <p:nvPr/>
        </p:nvCxnSpPr>
        <p:spPr bwMode="auto">
          <a:xfrm>
            <a:off x="7543800" y="1965960"/>
            <a:ext cx="4297680" cy="0"/>
          </a:xfrm>
          <a:prstGeom prst="line">
            <a:avLst/>
          </a:prstGeom>
          <a:ln w="12700">
            <a:solidFill>
              <a:srgbClr val="10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2868576" name="Rectangle 15"/>
          <p:cNvSpPr/>
          <p:nvPr/>
        </p:nvSpPr>
        <p:spPr bwMode="auto">
          <a:xfrm>
            <a:off x="7543800" y="2011680"/>
            <a:ext cx="4297680" cy="71323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26961089" name="TextBox 16"/>
          <p:cNvSpPr txBox="1"/>
          <p:nvPr/>
        </p:nvSpPr>
        <p:spPr bwMode="auto">
          <a:xfrm>
            <a:off x="7543800" y="20574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102A4A"/>
                </a:solidFill>
              </a:rPr>
              <a:t>A</a:t>
            </a:r>
            <a:endParaRPr/>
          </a:p>
        </p:txBody>
      </p:sp>
      <p:sp>
        <p:nvSpPr>
          <p:cNvPr id="1771796100" name="TextBox 17"/>
          <p:cNvSpPr txBox="1"/>
          <p:nvPr/>
        </p:nvSpPr>
        <p:spPr bwMode="auto">
          <a:xfrm>
            <a:off x="8961120" y="20574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0" i="0">
                <a:solidFill>
                  <a:srgbClr val="444444"/>
                </a:solidFill>
              </a:rPr>
              <a:t>0 %</a:t>
            </a:r>
            <a:endParaRPr/>
          </a:p>
        </p:txBody>
      </p:sp>
      <p:sp>
        <p:nvSpPr>
          <p:cNvPr id="1056355572" name="TextBox 18"/>
          <p:cNvSpPr txBox="1"/>
          <p:nvPr/>
        </p:nvSpPr>
        <p:spPr bwMode="auto">
          <a:xfrm>
            <a:off x="10378440" y="20574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1E8B4C"/>
                </a:solidFill>
              </a:rPr>
              <a:t>0,0 %</a:t>
            </a:r>
            <a:endParaRPr/>
          </a:p>
        </p:txBody>
      </p:sp>
      <p:sp>
        <p:nvSpPr>
          <p:cNvPr id="633952275" name="Rectangle 19"/>
          <p:cNvSpPr/>
          <p:nvPr/>
        </p:nvSpPr>
        <p:spPr bwMode="auto">
          <a:xfrm>
            <a:off x="7543800" y="2816352"/>
            <a:ext cx="429768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21024270" name="TextBox 20"/>
          <p:cNvSpPr txBox="1"/>
          <p:nvPr/>
        </p:nvSpPr>
        <p:spPr bwMode="auto">
          <a:xfrm>
            <a:off x="7543800" y="2862072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102A4A"/>
                </a:solidFill>
              </a:rPr>
              <a:t>B</a:t>
            </a:r>
            <a:endParaRPr/>
          </a:p>
        </p:txBody>
      </p:sp>
      <p:sp>
        <p:nvSpPr>
          <p:cNvPr id="753585748" name="TextBox 21"/>
          <p:cNvSpPr txBox="1"/>
          <p:nvPr/>
        </p:nvSpPr>
        <p:spPr bwMode="auto">
          <a:xfrm>
            <a:off x="8961120" y="2862072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0" i="0">
                <a:solidFill>
                  <a:srgbClr val="444444"/>
                </a:solidFill>
              </a:rPr>
              <a:t>10 %</a:t>
            </a:r>
            <a:endParaRPr/>
          </a:p>
        </p:txBody>
      </p:sp>
      <p:sp>
        <p:nvSpPr>
          <p:cNvPr id="1460387271" name="TextBox 22"/>
          <p:cNvSpPr txBox="1"/>
          <p:nvPr/>
        </p:nvSpPr>
        <p:spPr bwMode="auto">
          <a:xfrm>
            <a:off x="10378440" y="2862072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E06C0A"/>
                </a:solidFill>
              </a:rPr>
              <a:t>27,1 %</a:t>
            </a:r>
            <a:endParaRPr/>
          </a:p>
        </p:txBody>
      </p:sp>
      <p:sp>
        <p:nvSpPr>
          <p:cNvPr id="1221181248" name="Rectangle 23"/>
          <p:cNvSpPr/>
          <p:nvPr/>
        </p:nvSpPr>
        <p:spPr bwMode="auto">
          <a:xfrm>
            <a:off x="7543800" y="3621024"/>
            <a:ext cx="4297680" cy="71323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9385167" name="TextBox 24"/>
          <p:cNvSpPr txBox="1"/>
          <p:nvPr/>
        </p:nvSpPr>
        <p:spPr bwMode="auto">
          <a:xfrm>
            <a:off x="7543800" y="3666744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102A4A"/>
                </a:solidFill>
              </a:rPr>
              <a:t>C</a:t>
            </a:r>
            <a:endParaRPr/>
          </a:p>
        </p:txBody>
      </p:sp>
      <p:sp>
        <p:nvSpPr>
          <p:cNvPr id="73994374" name="TextBox 25"/>
          <p:cNvSpPr txBox="1"/>
          <p:nvPr/>
        </p:nvSpPr>
        <p:spPr bwMode="auto">
          <a:xfrm>
            <a:off x="8961120" y="3666744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0" i="0">
                <a:solidFill>
                  <a:srgbClr val="444444"/>
                </a:solidFill>
              </a:rPr>
              <a:t>20 %</a:t>
            </a:r>
            <a:endParaRPr/>
          </a:p>
        </p:txBody>
      </p:sp>
      <p:sp>
        <p:nvSpPr>
          <p:cNvPr id="307685754" name="TextBox 26"/>
          <p:cNvSpPr txBox="1"/>
          <p:nvPr/>
        </p:nvSpPr>
        <p:spPr bwMode="auto">
          <a:xfrm>
            <a:off x="10378440" y="3666744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E06C0A"/>
                </a:solidFill>
              </a:rPr>
              <a:t>48,8 %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5307074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71409787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Cenários e Linha de Base Empírica</a:t>
            </a:r>
            <a:endParaRPr/>
          </a:p>
        </p:txBody>
      </p:sp>
      <p:sp>
        <p:nvSpPr>
          <p:cNvPr id="828441917" name="TextBox 3"/>
          <p:cNvSpPr txBox="1"/>
          <p:nvPr/>
        </p:nvSpPr>
        <p:spPr bwMode="auto">
          <a:xfrm flipH="0" flipV="0">
            <a:off x="2698857" y="1295040"/>
            <a:ext cx="2594142" cy="30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102A4A"/>
                </a:solidFill>
              </a:rPr>
              <a:t>Parâmetros de rede (tc/netem)</a:t>
            </a:r>
            <a:endParaRPr/>
          </a:p>
        </p:txBody>
      </p:sp>
      <p:sp>
        <p:nvSpPr>
          <p:cNvPr id="1614490419" name="Rectangle 4"/>
          <p:cNvSpPr/>
          <p:nvPr/>
        </p:nvSpPr>
        <p:spPr bwMode="auto">
          <a:xfrm>
            <a:off x="2670048" y="1604772"/>
            <a:ext cx="640080" cy="4572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25940000" name="TextBox 5"/>
          <p:cNvSpPr txBox="1"/>
          <p:nvPr/>
        </p:nvSpPr>
        <p:spPr bwMode="auto">
          <a:xfrm>
            <a:off x="2697480" y="1632204"/>
            <a:ext cx="5852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Cen.</a:t>
            </a:r>
            <a:endParaRPr/>
          </a:p>
        </p:txBody>
      </p:sp>
      <p:sp>
        <p:nvSpPr>
          <p:cNvPr id="1383777605" name="Rectangle 6"/>
          <p:cNvSpPr/>
          <p:nvPr/>
        </p:nvSpPr>
        <p:spPr bwMode="auto">
          <a:xfrm>
            <a:off x="3310127" y="1604772"/>
            <a:ext cx="1371600" cy="4572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94671756" name="TextBox 7"/>
          <p:cNvSpPr txBox="1"/>
          <p:nvPr/>
        </p:nvSpPr>
        <p:spPr bwMode="auto">
          <a:xfrm>
            <a:off x="3337560" y="1632204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Perda bruta</a:t>
            </a:r>
            <a:endParaRPr/>
          </a:p>
        </p:txBody>
      </p:sp>
      <p:sp>
        <p:nvSpPr>
          <p:cNvPr id="634601814" name="Rectangle 8"/>
          <p:cNvSpPr/>
          <p:nvPr/>
        </p:nvSpPr>
        <p:spPr bwMode="auto">
          <a:xfrm>
            <a:off x="4681728" y="1604772"/>
            <a:ext cx="1371600" cy="4572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8393767" name="TextBox 9"/>
          <p:cNvSpPr txBox="1"/>
          <p:nvPr/>
        </p:nvSpPr>
        <p:spPr bwMode="auto">
          <a:xfrm>
            <a:off x="4709160" y="1632204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Atraso μ</a:t>
            </a:r>
            <a:endParaRPr/>
          </a:p>
        </p:txBody>
      </p:sp>
      <p:sp>
        <p:nvSpPr>
          <p:cNvPr id="1938659060" name="Rectangle 10"/>
          <p:cNvSpPr/>
          <p:nvPr/>
        </p:nvSpPr>
        <p:spPr bwMode="auto">
          <a:xfrm>
            <a:off x="6053328" y="1604772"/>
            <a:ext cx="1371600" cy="4572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90546672" name="TextBox 11"/>
          <p:cNvSpPr txBox="1"/>
          <p:nvPr/>
        </p:nvSpPr>
        <p:spPr bwMode="auto">
          <a:xfrm>
            <a:off x="6080760" y="1632204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RTT = 2μ</a:t>
            </a:r>
            <a:endParaRPr/>
          </a:p>
        </p:txBody>
      </p:sp>
      <p:sp>
        <p:nvSpPr>
          <p:cNvPr id="1278526791" name="Rectangle 12"/>
          <p:cNvSpPr/>
          <p:nvPr/>
        </p:nvSpPr>
        <p:spPr bwMode="auto">
          <a:xfrm>
            <a:off x="7424928" y="1604772"/>
            <a:ext cx="1371600" cy="4572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40351324" name="TextBox 13"/>
          <p:cNvSpPr txBox="1"/>
          <p:nvPr/>
        </p:nvSpPr>
        <p:spPr bwMode="auto">
          <a:xfrm>
            <a:off x="7452360" y="1632204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p_ef</a:t>
            </a:r>
            <a:endParaRPr/>
          </a:p>
        </p:txBody>
      </p:sp>
      <p:sp>
        <p:nvSpPr>
          <p:cNvPr id="845902899" name="Rectangle 14"/>
          <p:cNvSpPr/>
          <p:nvPr/>
        </p:nvSpPr>
        <p:spPr bwMode="auto">
          <a:xfrm>
            <a:off x="2670048" y="2107692"/>
            <a:ext cx="64008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55242758" name="TextBox 15"/>
          <p:cNvSpPr txBox="1"/>
          <p:nvPr/>
        </p:nvSpPr>
        <p:spPr bwMode="auto">
          <a:xfrm>
            <a:off x="2697480" y="2171700"/>
            <a:ext cx="5852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102A4A"/>
                </a:solidFill>
              </a:rPr>
              <a:t>A</a:t>
            </a:r>
            <a:endParaRPr/>
          </a:p>
        </p:txBody>
      </p:sp>
      <p:sp>
        <p:nvSpPr>
          <p:cNvPr id="164013859" name="Rectangle 16"/>
          <p:cNvSpPr/>
          <p:nvPr/>
        </p:nvSpPr>
        <p:spPr bwMode="auto">
          <a:xfrm>
            <a:off x="3310127" y="2107692"/>
            <a:ext cx="137160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944716" name="TextBox 17"/>
          <p:cNvSpPr txBox="1"/>
          <p:nvPr/>
        </p:nvSpPr>
        <p:spPr bwMode="auto">
          <a:xfrm>
            <a:off x="3337560" y="2171700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0 %</a:t>
            </a:r>
            <a:endParaRPr/>
          </a:p>
        </p:txBody>
      </p:sp>
      <p:sp>
        <p:nvSpPr>
          <p:cNvPr id="205034722" name="Rectangle 18"/>
          <p:cNvSpPr/>
          <p:nvPr/>
        </p:nvSpPr>
        <p:spPr bwMode="auto">
          <a:xfrm>
            <a:off x="4681728" y="2107692"/>
            <a:ext cx="137160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13428709" name="TextBox 19"/>
          <p:cNvSpPr txBox="1"/>
          <p:nvPr/>
        </p:nvSpPr>
        <p:spPr bwMode="auto">
          <a:xfrm>
            <a:off x="4709160" y="2171700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10 ms</a:t>
            </a:r>
            <a:endParaRPr/>
          </a:p>
        </p:txBody>
      </p:sp>
      <p:sp>
        <p:nvSpPr>
          <p:cNvPr id="1080856430" name="Rectangle 20"/>
          <p:cNvSpPr/>
          <p:nvPr/>
        </p:nvSpPr>
        <p:spPr bwMode="auto">
          <a:xfrm>
            <a:off x="6053328" y="2107692"/>
            <a:ext cx="137160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19212777" name="TextBox 21"/>
          <p:cNvSpPr txBox="1"/>
          <p:nvPr/>
        </p:nvSpPr>
        <p:spPr bwMode="auto">
          <a:xfrm>
            <a:off x="6080760" y="2171700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20 ms</a:t>
            </a:r>
            <a:endParaRPr/>
          </a:p>
        </p:txBody>
      </p:sp>
      <p:sp>
        <p:nvSpPr>
          <p:cNvPr id="781298445" name="Rectangle 22"/>
          <p:cNvSpPr/>
          <p:nvPr/>
        </p:nvSpPr>
        <p:spPr bwMode="auto">
          <a:xfrm>
            <a:off x="7424928" y="2107692"/>
            <a:ext cx="137160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6342734" name="TextBox 23"/>
          <p:cNvSpPr txBox="1"/>
          <p:nvPr/>
        </p:nvSpPr>
        <p:spPr bwMode="auto">
          <a:xfrm>
            <a:off x="7452360" y="2171700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0,0 %</a:t>
            </a:r>
            <a:endParaRPr/>
          </a:p>
        </p:txBody>
      </p:sp>
      <p:sp>
        <p:nvSpPr>
          <p:cNvPr id="758349599" name="Rectangle 24"/>
          <p:cNvSpPr/>
          <p:nvPr/>
        </p:nvSpPr>
        <p:spPr bwMode="auto">
          <a:xfrm>
            <a:off x="2670048" y="2674620"/>
            <a:ext cx="6400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68988685" name="TextBox 25"/>
          <p:cNvSpPr txBox="1"/>
          <p:nvPr/>
        </p:nvSpPr>
        <p:spPr bwMode="auto">
          <a:xfrm>
            <a:off x="2697480" y="2738627"/>
            <a:ext cx="5852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102A4A"/>
                </a:solidFill>
              </a:rPr>
              <a:t>B</a:t>
            </a:r>
            <a:endParaRPr/>
          </a:p>
        </p:txBody>
      </p:sp>
      <p:sp>
        <p:nvSpPr>
          <p:cNvPr id="1741721153" name="Rectangle 26"/>
          <p:cNvSpPr/>
          <p:nvPr/>
        </p:nvSpPr>
        <p:spPr bwMode="auto">
          <a:xfrm>
            <a:off x="3310127" y="267462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71552572" name="TextBox 27"/>
          <p:cNvSpPr txBox="1"/>
          <p:nvPr/>
        </p:nvSpPr>
        <p:spPr bwMode="auto">
          <a:xfrm>
            <a:off x="3337560" y="2738627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10 %</a:t>
            </a:r>
            <a:endParaRPr/>
          </a:p>
        </p:txBody>
      </p:sp>
      <p:sp>
        <p:nvSpPr>
          <p:cNvPr id="108080079" name="Rectangle 28"/>
          <p:cNvSpPr/>
          <p:nvPr/>
        </p:nvSpPr>
        <p:spPr bwMode="auto">
          <a:xfrm>
            <a:off x="4681728" y="267462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06645805" name="TextBox 29"/>
          <p:cNvSpPr txBox="1"/>
          <p:nvPr/>
        </p:nvSpPr>
        <p:spPr bwMode="auto">
          <a:xfrm>
            <a:off x="4709160" y="2738627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50 ms</a:t>
            </a:r>
            <a:endParaRPr/>
          </a:p>
        </p:txBody>
      </p:sp>
      <p:sp>
        <p:nvSpPr>
          <p:cNvPr id="464619429" name="Rectangle 30"/>
          <p:cNvSpPr/>
          <p:nvPr/>
        </p:nvSpPr>
        <p:spPr bwMode="auto">
          <a:xfrm>
            <a:off x="6053328" y="267462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713695" name="TextBox 31"/>
          <p:cNvSpPr txBox="1"/>
          <p:nvPr/>
        </p:nvSpPr>
        <p:spPr bwMode="auto">
          <a:xfrm>
            <a:off x="6080760" y="2738627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100 ms</a:t>
            </a:r>
            <a:endParaRPr/>
          </a:p>
        </p:txBody>
      </p:sp>
      <p:sp>
        <p:nvSpPr>
          <p:cNvPr id="731159064" name="Rectangle 32"/>
          <p:cNvSpPr/>
          <p:nvPr/>
        </p:nvSpPr>
        <p:spPr bwMode="auto">
          <a:xfrm>
            <a:off x="7424928" y="267462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28297504" name="TextBox 33"/>
          <p:cNvSpPr txBox="1"/>
          <p:nvPr/>
        </p:nvSpPr>
        <p:spPr bwMode="auto">
          <a:xfrm>
            <a:off x="7452360" y="2738627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E06C0A"/>
                </a:solidFill>
              </a:rPr>
              <a:t>27,1 %</a:t>
            </a:r>
            <a:endParaRPr/>
          </a:p>
        </p:txBody>
      </p:sp>
      <p:sp>
        <p:nvSpPr>
          <p:cNvPr id="1323730955" name="Rectangle 34"/>
          <p:cNvSpPr/>
          <p:nvPr/>
        </p:nvSpPr>
        <p:spPr bwMode="auto">
          <a:xfrm>
            <a:off x="2670048" y="3241548"/>
            <a:ext cx="64008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81522271" name="TextBox 35"/>
          <p:cNvSpPr txBox="1"/>
          <p:nvPr/>
        </p:nvSpPr>
        <p:spPr bwMode="auto">
          <a:xfrm>
            <a:off x="2697480" y="3305556"/>
            <a:ext cx="5852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102A4A"/>
                </a:solidFill>
              </a:rPr>
              <a:t>C</a:t>
            </a:r>
            <a:endParaRPr/>
          </a:p>
        </p:txBody>
      </p:sp>
      <p:sp>
        <p:nvSpPr>
          <p:cNvPr id="1572610616" name="Rectangle 36"/>
          <p:cNvSpPr/>
          <p:nvPr/>
        </p:nvSpPr>
        <p:spPr bwMode="auto">
          <a:xfrm>
            <a:off x="3310127" y="3241548"/>
            <a:ext cx="137160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86504249" name="TextBox 37"/>
          <p:cNvSpPr txBox="1"/>
          <p:nvPr/>
        </p:nvSpPr>
        <p:spPr bwMode="auto">
          <a:xfrm>
            <a:off x="3337560" y="3305556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20 %</a:t>
            </a:r>
            <a:endParaRPr/>
          </a:p>
        </p:txBody>
      </p:sp>
      <p:sp>
        <p:nvSpPr>
          <p:cNvPr id="2085171531" name="Rectangle 38"/>
          <p:cNvSpPr/>
          <p:nvPr/>
        </p:nvSpPr>
        <p:spPr bwMode="auto">
          <a:xfrm>
            <a:off x="4681728" y="3241548"/>
            <a:ext cx="137160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5240927" name="TextBox 39"/>
          <p:cNvSpPr txBox="1"/>
          <p:nvPr/>
        </p:nvSpPr>
        <p:spPr bwMode="auto">
          <a:xfrm>
            <a:off x="4709160" y="3305556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100 ms</a:t>
            </a:r>
            <a:endParaRPr/>
          </a:p>
        </p:txBody>
      </p:sp>
      <p:sp>
        <p:nvSpPr>
          <p:cNvPr id="1507253709" name="Rectangle 40"/>
          <p:cNvSpPr/>
          <p:nvPr/>
        </p:nvSpPr>
        <p:spPr bwMode="auto">
          <a:xfrm>
            <a:off x="6053328" y="3241548"/>
            <a:ext cx="137160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69579377" name="TextBox 41"/>
          <p:cNvSpPr txBox="1"/>
          <p:nvPr/>
        </p:nvSpPr>
        <p:spPr bwMode="auto">
          <a:xfrm>
            <a:off x="6080760" y="3305556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200 ms</a:t>
            </a:r>
            <a:endParaRPr/>
          </a:p>
        </p:txBody>
      </p:sp>
      <p:sp>
        <p:nvSpPr>
          <p:cNvPr id="657925735" name="Rectangle 42"/>
          <p:cNvSpPr/>
          <p:nvPr/>
        </p:nvSpPr>
        <p:spPr bwMode="auto">
          <a:xfrm>
            <a:off x="7424928" y="3241548"/>
            <a:ext cx="137160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10768122" name="TextBox 43"/>
          <p:cNvSpPr txBox="1"/>
          <p:nvPr/>
        </p:nvSpPr>
        <p:spPr bwMode="auto">
          <a:xfrm>
            <a:off x="7452360" y="3305556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E06C0A"/>
                </a:solidFill>
              </a:rPr>
              <a:t>48,8 %</a:t>
            </a:r>
            <a:endParaRPr/>
          </a:p>
        </p:txBody>
      </p:sp>
      <p:sp>
        <p:nvSpPr>
          <p:cNvPr id="515712256" name="TextBox 85"/>
          <p:cNvSpPr txBox="1"/>
          <p:nvPr/>
        </p:nvSpPr>
        <p:spPr bwMode="auto">
          <a:xfrm flipH="0" flipV="0">
            <a:off x="1963313" y="3840625"/>
            <a:ext cx="7520694" cy="350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700" b="1" i="0">
                <a:solidFill>
                  <a:srgbClr val="E06C0A"/>
                </a:solidFill>
              </a:rPr>
              <a:t>Faixa de 200× no tempo de transferência: de 0,67 s (A) a 144,6 s (C)</a:t>
            </a:r>
            <a:endParaRPr/>
          </a:p>
        </p:txBody>
      </p:sp>
      <p:sp>
        <p:nvSpPr>
          <p:cNvPr id="1106648274" name="TextBox 86"/>
          <p:cNvSpPr txBox="1"/>
          <p:nvPr/>
        </p:nvSpPr>
        <p:spPr bwMode="auto">
          <a:xfrm>
            <a:off x="365760" y="443484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defRPr/>
            </a:pPr>
            <a:r>
              <a:rPr sz="1600">
                <a:solidFill>
                  <a:srgbClr val="444444"/>
                </a:solidFill>
              </a:rPr>
              <a:t>▸ Cenário A: sem perda — transferência rápida, 1× overhead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600">
                <a:solidFill>
                  <a:srgbClr val="444444"/>
                </a:solidFill>
              </a:rPr>
              <a:t>▸ Cenário C: p_ef = 48,8% — overhead de 8,4×, quase 2,5 min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857069" name="Rectangle 1"/>
          <p:cNvSpPr/>
          <p:nvPr/>
        </p:nvSpPr>
        <p:spPr bwMode="auto">
          <a:xfrm>
            <a:off x="0" y="0"/>
            <a:ext cx="12191694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95889859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Cenários e Linha de Base Empírica</a:t>
            </a:r>
            <a:endParaRPr/>
          </a:p>
        </p:txBody>
      </p:sp>
      <p:sp>
        <p:nvSpPr>
          <p:cNvPr id="1790212592" name="TextBox 44"/>
          <p:cNvSpPr txBox="1"/>
          <p:nvPr/>
        </p:nvSpPr>
        <p:spPr bwMode="auto">
          <a:xfrm flipH="0" flipV="0">
            <a:off x="2834639" y="1097280"/>
            <a:ext cx="2332498" cy="30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102A4A"/>
                </a:solidFill>
              </a:rPr>
              <a:t>Medições reais (média n=10)</a:t>
            </a:r>
            <a:endParaRPr/>
          </a:p>
        </p:txBody>
      </p:sp>
      <p:sp>
        <p:nvSpPr>
          <p:cNvPr id="1246434155" name="Rectangle 45"/>
          <p:cNvSpPr/>
          <p:nvPr/>
        </p:nvSpPr>
        <p:spPr bwMode="auto">
          <a:xfrm>
            <a:off x="2834639" y="1435608"/>
            <a:ext cx="640080" cy="4572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29287547" name="TextBox 46"/>
          <p:cNvSpPr txBox="1"/>
          <p:nvPr/>
        </p:nvSpPr>
        <p:spPr bwMode="auto">
          <a:xfrm>
            <a:off x="2862071" y="1463040"/>
            <a:ext cx="58521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Cen.</a:t>
            </a:r>
            <a:endParaRPr/>
          </a:p>
        </p:txBody>
      </p:sp>
      <p:sp>
        <p:nvSpPr>
          <p:cNvPr id="212496891" name="Rectangle 47"/>
          <p:cNvSpPr/>
          <p:nvPr/>
        </p:nvSpPr>
        <p:spPr bwMode="auto">
          <a:xfrm>
            <a:off x="3474719" y="1435608"/>
            <a:ext cx="1463040" cy="4572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65199021" name="TextBox 48"/>
          <p:cNvSpPr txBox="1"/>
          <p:nvPr/>
        </p:nvSpPr>
        <p:spPr bwMode="auto">
          <a:xfrm>
            <a:off x="3502150" y="1463040"/>
            <a:ext cx="14081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Tempo (s)</a:t>
            </a:r>
            <a:endParaRPr/>
          </a:p>
        </p:txBody>
      </p:sp>
      <p:sp>
        <p:nvSpPr>
          <p:cNvPr id="24927323" name="Rectangle 49"/>
          <p:cNvSpPr/>
          <p:nvPr/>
        </p:nvSpPr>
        <p:spPr bwMode="auto">
          <a:xfrm>
            <a:off x="4937759" y="1435608"/>
            <a:ext cx="1645920" cy="4572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21124689" name="TextBox 50"/>
          <p:cNvSpPr txBox="1"/>
          <p:nvPr/>
        </p:nvSpPr>
        <p:spPr bwMode="auto">
          <a:xfrm>
            <a:off x="4965191" y="146304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Vazão (KB/s)</a:t>
            </a:r>
            <a:endParaRPr/>
          </a:p>
        </p:txBody>
      </p:sp>
      <p:sp>
        <p:nvSpPr>
          <p:cNvPr id="2046995255" name="Rectangle 51"/>
          <p:cNvSpPr/>
          <p:nvPr/>
        </p:nvSpPr>
        <p:spPr bwMode="auto">
          <a:xfrm>
            <a:off x="6583679" y="1435608"/>
            <a:ext cx="1188720" cy="4572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26203887" name="TextBox 52"/>
          <p:cNvSpPr txBox="1"/>
          <p:nvPr/>
        </p:nvSpPr>
        <p:spPr bwMode="auto">
          <a:xfrm>
            <a:off x="6611111" y="1463040"/>
            <a:ext cx="11338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Retx</a:t>
            </a:r>
            <a:endParaRPr/>
          </a:p>
        </p:txBody>
      </p:sp>
      <p:sp>
        <p:nvSpPr>
          <p:cNvPr id="86606585" name="Rectangle 53"/>
          <p:cNvSpPr/>
          <p:nvPr/>
        </p:nvSpPr>
        <p:spPr bwMode="auto">
          <a:xfrm>
            <a:off x="7772399" y="1435608"/>
            <a:ext cx="1371600" cy="4572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19026442" name="TextBox 54"/>
          <p:cNvSpPr txBox="1"/>
          <p:nvPr/>
        </p:nvSpPr>
        <p:spPr bwMode="auto">
          <a:xfrm>
            <a:off x="7799831" y="1463040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Overhead</a:t>
            </a:r>
            <a:endParaRPr/>
          </a:p>
        </p:txBody>
      </p:sp>
      <p:sp>
        <p:nvSpPr>
          <p:cNvPr id="187178082" name="Rectangle 55"/>
          <p:cNvSpPr/>
          <p:nvPr/>
        </p:nvSpPr>
        <p:spPr bwMode="auto">
          <a:xfrm>
            <a:off x="2834639" y="1938528"/>
            <a:ext cx="64008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76689189" name="TextBox 56"/>
          <p:cNvSpPr txBox="1"/>
          <p:nvPr/>
        </p:nvSpPr>
        <p:spPr bwMode="auto">
          <a:xfrm>
            <a:off x="2862071" y="2002534"/>
            <a:ext cx="58521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102A4A"/>
                </a:solidFill>
              </a:rPr>
              <a:t>A</a:t>
            </a:r>
            <a:endParaRPr/>
          </a:p>
        </p:txBody>
      </p:sp>
      <p:sp>
        <p:nvSpPr>
          <p:cNvPr id="1141631816" name="Rectangle 57"/>
          <p:cNvSpPr/>
          <p:nvPr/>
        </p:nvSpPr>
        <p:spPr bwMode="auto">
          <a:xfrm>
            <a:off x="3474719" y="1938528"/>
            <a:ext cx="146304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8365175" name="TextBox 58"/>
          <p:cNvSpPr txBox="1"/>
          <p:nvPr/>
        </p:nvSpPr>
        <p:spPr bwMode="auto">
          <a:xfrm>
            <a:off x="3502150" y="2002534"/>
            <a:ext cx="14081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0,676</a:t>
            </a:r>
            <a:endParaRPr/>
          </a:p>
        </p:txBody>
      </p:sp>
      <p:sp>
        <p:nvSpPr>
          <p:cNvPr id="263346413" name="Rectangle 59"/>
          <p:cNvSpPr/>
          <p:nvPr/>
        </p:nvSpPr>
        <p:spPr bwMode="auto">
          <a:xfrm>
            <a:off x="4937759" y="1938528"/>
            <a:ext cx="164592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2062162" name="TextBox 60"/>
          <p:cNvSpPr txBox="1"/>
          <p:nvPr/>
        </p:nvSpPr>
        <p:spPr bwMode="auto">
          <a:xfrm>
            <a:off x="4965191" y="2002534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1 515</a:t>
            </a:r>
            <a:endParaRPr/>
          </a:p>
        </p:txBody>
      </p:sp>
      <p:sp>
        <p:nvSpPr>
          <p:cNvPr id="1384115258" name="Rectangle 61"/>
          <p:cNvSpPr/>
          <p:nvPr/>
        </p:nvSpPr>
        <p:spPr bwMode="auto">
          <a:xfrm>
            <a:off x="6583679" y="1938528"/>
            <a:ext cx="118872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55017420" name="TextBox 62"/>
          <p:cNvSpPr txBox="1"/>
          <p:nvPr/>
        </p:nvSpPr>
        <p:spPr bwMode="auto">
          <a:xfrm>
            <a:off x="6611111" y="2002534"/>
            <a:ext cx="11338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0,0</a:t>
            </a:r>
            <a:endParaRPr/>
          </a:p>
        </p:txBody>
      </p:sp>
      <p:sp>
        <p:nvSpPr>
          <p:cNvPr id="128141424" name="Rectangle 63"/>
          <p:cNvSpPr/>
          <p:nvPr/>
        </p:nvSpPr>
        <p:spPr bwMode="auto">
          <a:xfrm>
            <a:off x="7772399" y="1938528"/>
            <a:ext cx="137160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0088784" name="TextBox 64"/>
          <p:cNvSpPr txBox="1"/>
          <p:nvPr/>
        </p:nvSpPr>
        <p:spPr bwMode="auto">
          <a:xfrm>
            <a:off x="7799831" y="2002534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1,0×</a:t>
            </a:r>
            <a:endParaRPr/>
          </a:p>
        </p:txBody>
      </p:sp>
      <p:sp>
        <p:nvSpPr>
          <p:cNvPr id="45175562" name="Rectangle 65"/>
          <p:cNvSpPr/>
          <p:nvPr/>
        </p:nvSpPr>
        <p:spPr bwMode="auto">
          <a:xfrm>
            <a:off x="2834639" y="2505456"/>
            <a:ext cx="6400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2684147" name="TextBox 66"/>
          <p:cNvSpPr txBox="1"/>
          <p:nvPr/>
        </p:nvSpPr>
        <p:spPr bwMode="auto">
          <a:xfrm>
            <a:off x="2862071" y="2569463"/>
            <a:ext cx="58521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102A4A"/>
                </a:solidFill>
              </a:rPr>
              <a:t>B</a:t>
            </a:r>
            <a:endParaRPr/>
          </a:p>
        </p:txBody>
      </p:sp>
      <p:sp>
        <p:nvSpPr>
          <p:cNvPr id="932921925" name="Rectangle 67"/>
          <p:cNvSpPr/>
          <p:nvPr/>
        </p:nvSpPr>
        <p:spPr bwMode="auto">
          <a:xfrm>
            <a:off x="3474719" y="2505456"/>
            <a:ext cx="14630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47084901" name="TextBox 68"/>
          <p:cNvSpPr txBox="1"/>
          <p:nvPr/>
        </p:nvSpPr>
        <p:spPr bwMode="auto">
          <a:xfrm>
            <a:off x="3502150" y="2569463"/>
            <a:ext cx="14081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53,165</a:t>
            </a:r>
            <a:endParaRPr/>
          </a:p>
        </p:txBody>
      </p:sp>
      <p:sp>
        <p:nvSpPr>
          <p:cNvPr id="1689562576" name="Rectangle 69"/>
          <p:cNvSpPr/>
          <p:nvPr/>
        </p:nvSpPr>
        <p:spPr bwMode="auto">
          <a:xfrm>
            <a:off x="4937759" y="2505456"/>
            <a:ext cx="16459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44017309" name="TextBox 70"/>
          <p:cNvSpPr txBox="1"/>
          <p:nvPr/>
        </p:nvSpPr>
        <p:spPr bwMode="auto">
          <a:xfrm>
            <a:off x="4965191" y="2569463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19,5</a:t>
            </a:r>
            <a:endParaRPr/>
          </a:p>
        </p:txBody>
      </p:sp>
      <p:sp>
        <p:nvSpPr>
          <p:cNvPr id="1647846033" name="Rectangle 71"/>
          <p:cNvSpPr/>
          <p:nvPr/>
        </p:nvSpPr>
        <p:spPr bwMode="auto">
          <a:xfrm>
            <a:off x="6583679" y="2505456"/>
            <a:ext cx="11887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27405773" name="TextBox 72"/>
          <p:cNvSpPr txBox="1"/>
          <p:nvPr/>
        </p:nvSpPr>
        <p:spPr bwMode="auto">
          <a:xfrm>
            <a:off x="6611111" y="2569463"/>
            <a:ext cx="11338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91,1</a:t>
            </a:r>
            <a:endParaRPr/>
          </a:p>
        </p:txBody>
      </p:sp>
      <p:sp>
        <p:nvSpPr>
          <p:cNvPr id="445695270" name="Rectangle 73"/>
          <p:cNvSpPr/>
          <p:nvPr/>
        </p:nvSpPr>
        <p:spPr bwMode="auto">
          <a:xfrm>
            <a:off x="7772399" y="2505456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63123483" name="TextBox 74"/>
          <p:cNvSpPr txBox="1"/>
          <p:nvPr/>
        </p:nvSpPr>
        <p:spPr bwMode="auto">
          <a:xfrm>
            <a:off x="7799831" y="2569463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E06C0A"/>
                </a:solidFill>
              </a:rPr>
              <a:t>3,8×</a:t>
            </a:r>
            <a:endParaRPr/>
          </a:p>
        </p:txBody>
      </p:sp>
      <p:sp>
        <p:nvSpPr>
          <p:cNvPr id="879789637" name="Rectangle 75"/>
          <p:cNvSpPr/>
          <p:nvPr/>
        </p:nvSpPr>
        <p:spPr bwMode="auto">
          <a:xfrm>
            <a:off x="2834639" y="3072382"/>
            <a:ext cx="64008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00059951" name="TextBox 76"/>
          <p:cNvSpPr txBox="1"/>
          <p:nvPr/>
        </p:nvSpPr>
        <p:spPr bwMode="auto">
          <a:xfrm>
            <a:off x="2862071" y="3136389"/>
            <a:ext cx="58521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102A4A"/>
                </a:solidFill>
              </a:rPr>
              <a:t>C</a:t>
            </a:r>
            <a:endParaRPr/>
          </a:p>
        </p:txBody>
      </p:sp>
      <p:sp>
        <p:nvSpPr>
          <p:cNvPr id="779641524" name="Rectangle 77"/>
          <p:cNvSpPr/>
          <p:nvPr/>
        </p:nvSpPr>
        <p:spPr bwMode="auto">
          <a:xfrm>
            <a:off x="3474719" y="3072382"/>
            <a:ext cx="146304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83093264" name="TextBox 78"/>
          <p:cNvSpPr txBox="1"/>
          <p:nvPr/>
        </p:nvSpPr>
        <p:spPr bwMode="auto">
          <a:xfrm>
            <a:off x="3502150" y="3136389"/>
            <a:ext cx="14081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144,613</a:t>
            </a:r>
            <a:endParaRPr/>
          </a:p>
        </p:txBody>
      </p:sp>
      <p:sp>
        <p:nvSpPr>
          <p:cNvPr id="428506466" name="Rectangle 79"/>
          <p:cNvSpPr/>
          <p:nvPr/>
        </p:nvSpPr>
        <p:spPr bwMode="auto">
          <a:xfrm>
            <a:off x="4937759" y="3072382"/>
            <a:ext cx="164592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91583310" name="TextBox 80"/>
          <p:cNvSpPr txBox="1"/>
          <p:nvPr/>
        </p:nvSpPr>
        <p:spPr bwMode="auto">
          <a:xfrm>
            <a:off x="4965191" y="3136389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7,1</a:t>
            </a:r>
            <a:endParaRPr/>
          </a:p>
        </p:txBody>
      </p:sp>
      <p:sp>
        <p:nvSpPr>
          <p:cNvPr id="2058268803" name="Rectangle 81"/>
          <p:cNvSpPr/>
          <p:nvPr/>
        </p:nvSpPr>
        <p:spPr bwMode="auto">
          <a:xfrm>
            <a:off x="6583679" y="3072382"/>
            <a:ext cx="118872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23849998" name="TextBox 82"/>
          <p:cNvSpPr txBox="1"/>
          <p:nvPr/>
        </p:nvSpPr>
        <p:spPr bwMode="auto">
          <a:xfrm>
            <a:off x="6611111" y="3136389"/>
            <a:ext cx="11338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444444"/>
                </a:solidFill>
              </a:rPr>
              <a:t>238,5</a:t>
            </a:r>
            <a:endParaRPr/>
          </a:p>
        </p:txBody>
      </p:sp>
      <p:sp>
        <p:nvSpPr>
          <p:cNvPr id="1574007381" name="Rectangle 83"/>
          <p:cNvSpPr/>
          <p:nvPr/>
        </p:nvSpPr>
        <p:spPr bwMode="auto">
          <a:xfrm>
            <a:off x="7772399" y="3072382"/>
            <a:ext cx="1371600" cy="530352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8645679" name="TextBox 84"/>
          <p:cNvSpPr txBox="1"/>
          <p:nvPr/>
        </p:nvSpPr>
        <p:spPr bwMode="auto">
          <a:xfrm>
            <a:off x="7799831" y="3136389"/>
            <a:ext cx="13167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0">
                <a:solidFill>
                  <a:srgbClr val="E06C0A"/>
                </a:solidFill>
              </a:rPr>
              <a:t>8,4×</a:t>
            </a:r>
            <a:endParaRPr/>
          </a:p>
        </p:txBody>
      </p:sp>
      <p:sp>
        <p:nvSpPr>
          <p:cNvPr id="730989719" name="TextBox 85"/>
          <p:cNvSpPr txBox="1"/>
          <p:nvPr/>
        </p:nvSpPr>
        <p:spPr bwMode="auto">
          <a:xfrm flipH="0" flipV="0">
            <a:off x="2752211" y="3602734"/>
            <a:ext cx="6310079" cy="350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700" b="1" i="0">
                <a:solidFill>
                  <a:srgbClr val="E06C0A"/>
                </a:solidFill>
              </a:rPr>
              <a:t>Faixa de 200× no tempo de transferência: de 0,67 s (A) a 144,6 s (C)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2A4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57480" name="Rectangle 1"/>
          <p:cNvSpPr/>
          <p:nvPr/>
        </p:nvSpPr>
        <p:spPr bwMode="auto">
          <a:xfrm>
            <a:off x="0" y="0"/>
            <a:ext cx="109728" cy="685800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42805239" name="TextBox 2"/>
          <p:cNvSpPr txBox="1"/>
          <p:nvPr/>
        </p:nvSpPr>
        <p:spPr bwMode="auto">
          <a:xfrm>
            <a:off x="320040" y="2011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4600" b="1" i="0">
                <a:solidFill>
                  <a:srgbClr val="FFFFFF"/>
                </a:solidFill>
              </a:rPr>
              <a:t>3. Modelo Estocástico</a:t>
            </a:r>
            <a:endParaRPr/>
          </a:p>
        </p:txBody>
      </p:sp>
      <p:sp>
        <p:nvSpPr>
          <p:cNvPr id="1918534701" name="TextBox 3"/>
          <p:cNvSpPr txBox="1"/>
          <p:nvPr/>
        </p:nvSpPr>
        <p:spPr bwMode="auto">
          <a:xfrm>
            <a:off x="320040" y="3566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200" b="0" i="0">
                <a:solidFill>
                  <a:srgbClr val="5BB4F5"/>
                </a:solidFill>
              </a:rPr>
              <a:t>Simulação de Eventos Discretos com SimPy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5417087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4447915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Por que Simulação de Eventos Discretos?</a:t>
            </a:r>
            <a:endParaRPr/>
          </a:p>
        </p:txBody>
      </p:sp>
      <p:sp>
        <p:nvSpPr>
          <p:cNvPr id="542448607" name="TextBox 3"/>
          <p:cNvSpPr txBox="1"/>
          <p:nvPr/>
        </p:nvSpPr>
        <p:spPr bwMode="auto">
          <a:xfrm>
            <a:off x="365760" y="10515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800" b="1">
                <a:solidFill>
                  <a:srgbClr val="102A4A"/>
                </a:solidFill>
              </a:rPr>
              <a:t>Vantagens para GBN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Estado muda apenas em instantes de eventos agendados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Relógio avança direto de evento a evento → eficiente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Captura sobreposição de pacotes em voo dentro da janela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ACKs cumulativos e cascatas de timeout emergem naturalmente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Sem aproximação por rodadas síncronas, sem fatores empíricos</a:t>
            </a:r>
            <a:endParaRPr/>
          </a:p>
        </p:txBody>
      </p:sp>
      <p:sp>
        <p:nvSpPr>
          <p:cNvPr id="837448366" name="Rectangle 4"/>
          <p:cNvSpPr/>
          <p:nvPr/>
        </p:nvSpPr>
        <p:spPr bwMode="auto">
          <a:xfrm>
            <a:off x="7406640" y="1051560"/>
            <a:ext cx="4572000" cy="41148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4155846" name="TextBox 5"/>
          <p:cNvSpPr txBox="1"/>
          <p:nvPr/>
        </p:nvSpPr>
        <p:spPr bwMode="auto">
          <a:xfrm>
            <a:off x="7543800" y="10972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1" i="0">
                <a:solidFill>
                  <a:srgbClr val="E06C0A"/>
                </a:solidFill>
              </a:rPr>
              <a:t>Três classes de eventos</a:t>
            </a:r>
            <a:endParaRPr/>
          </a:p>
        </p:txBody>
      </p:sp>
      <p:sp>
        <p:nvSpPr>
          <p:cNvPr id="406319221" name="TextBox 6"/>
          <p:cNvSpPr txBox="1"/>
          <p:nvPr/>
        </p:nvSpPr>
        <p:spPr bwMode="auto">
          <a:xfrm>
            <a:off x="7543800" y="1691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200" b="0" i="0">
                <a:solidFill>
                  <a:srgbClr val="E06C0A"/>
                </a:solidFill>
              </a:rPr>
              <a:t>📦</a:t>
            </a:r>
            <a:endParaRPr/>
          </a:p>
        </p:txBody>
      </p:sp>
      <p:sp>
        <p:nvSpPr>
          <p:cNvPr id="790715520" name="TextBox 7"/>
          <p:cNvSpPr txBox="1"/>
          <p:nvPr/>
        </p:nvSpPr>
        <p:spPr bwMode="auto">
          <a:xfrm>
            <a:off x="8046720" y="16916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1" i="0">
                <a:solidFill>
                  <a:srgbClr val="FFFFFF"/>
                </a:solidFill>
              </a:rPr>
              <a:t>Chegada de DATA</a:t>
            </a:r>
            <a:endParaRPr/>
          </a:p>
        </p:txBody>
      </p:sp>
      <p:sp>
        <p:nvSpPr>
          <p:cNvPr id="1964844440" name="TextBox 8"/>
          <p:cNvSpPr txBox="1"/>
          <p:nvPr/>
        </p:nvSpPr>
        <p:spPr bwMode="auto">
          <a:xfrm>
            <a:off x="8046720" y="21305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0" i="0">
                <a:solidFill>
                  <a:srgbClr val="5BB4F5"/>
                </a:solidFill>
              </a:rPr>
              <a:t>bloco recebido pelo servidor</a:t>
            </a:r>
            <a:endParaRPr/>
          </a:p>
        </p:txBody>
      </p:sp>
      <p:sp>
        <p:nvSpPr>
          <p:cNvPr id="675581769" name="TextBox 9"/>
          <p:cNvSpPr txBox="1"/>
          <p:nvPr/>
        </p:nvSpPr>
        <p:spPr bwMode="auto">
          <a:xfrm>
            <a:off x="7543800" y="2788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200" b="0" i="0">
                <a:solidFill>
                  <a:srgbClr val="E06C0A"/>
                </a:solidFill>
              </a:rPr>
              <a:t>✓</a:t>
            </a:r>
            <a:endParaRPr/>
          </a:p>
        </p:txBody>
      </p:sp>
      <p:sp>
        <p:nvSpPr>
          <p:cNvPr id="1948013194" name="TextBox 10"/>
          <p:cNvSpPr txBox="1"/>
          <p:nvPr/>
        </p:nvSpPr>
        <p:spPr bwMode="auto">
          <a:xfrm>
            <a:off x="8046720" y="2788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1" i="0">
                <a:solidFill>
                  <a:srgbClr val="FFFFFF"/>
                </a:solidFill>
              </a:rPr>
              <a:t>Chegada de ACK</a:t>
            </a:r>
            <a:endParaRPr/>
          </a:p>
        </p:txBody>
      </p:sp>
      <p:sp>
        <p:nvSpPr>
          <p:cNvPr id="1517195321" name="TextBox 11"/>
          <p:cNvSpPr txBox="1"/>
          <p:nvPr/>
        </p:nvSpPr>
        <p:spPr bwMode="auto">
          <a:xfrm>
            <a:off x="8046720" y="32278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0" i="0">
                <a:solidFill>
                  <a:srgbClr val="5BB4F5"/>
                </a:solidFill>
              </a:rPr>
              <a:t>janela avança, timer reinicia</a:t>
            </a:r>
            <a:endParaRPr/>
          </a:p>
        </p:txBody>
      </p:sp>
      <p:sp>
        <p:nvSpPr>
          <p:cNvPr id="203997234" name="TextBox 12"/>
          <p:cNvSpPr txBox="1"/>
          <p:nvPr/>
        </p:nvSpPr>
        <p:spPr bwMode="auto">
          <a:xfrm>
            <a:off x="7543800" y="3886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200" b="0" i="0">
                <a:solidFill>
                  <a:srgbClr val="E06C0A"/>
                </a:solidFill>
              </a:rPr>
              <a:t>⏰</a:t>
            </a:r>
            <a:endParaRPr/>
          </a:p>
        </p:txBody>
      </p:sp>
      <p:sp>
        <p:nvSpPr>
          <p:cNvPr id="1745809861" name="TextBox 13"/>
          <p:cNvSpPr txBox="1"/>
          <p:nvPr/>
        </p:nvSpPr>
        <p:spPr bwMode="auto">
          <a:xfrm>
            <a:off x="8046720" y="38862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1" i="0">
                <a:solidFill>
                  <a:srgbClr val="FFFFFF"/>
                </a:solidFill>
              </a:rPr>
              <a:t>Disparo de timer</a:t>
            </a:r>
            <a:endParaRPr/>
          </a:p>
        </p:txBody>
      </p:sp>
      <p:sp>
        <p:nvSpPr>
          <p:cNvPr id="95456876" name="TextBox 14"/>
          <p:cNvSpPr txBox="1"/>
          <p:nvPr/>
        </p:nvSpPr>
        <p:spPr bwMode="auto">
          <a:xfrm>
            <a:off x="8046720" y="43251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0" i="0">
                <a:solidFill>
                  <a:srgbClr val="5BB4F5"/>
                </a:solidFill>
              </a:rPr>
              <a:t>retransmissão a partir da base</a:t>
            </a:r>
            <a:endParaRPr/>
          </a:p>
        </p:txBody>
      </p:sp>
      <p:sp>
        <p:nvSpPr>
          <p:cNvPr id="963361583" name="TextBox 15"/>
          <p:cNvSpPr txBox="1"/>
          <p:nvPr/>
        </p:nvSpPr>
        <p:spPr bwMode="auto">
          <a:xfrm flipH="0" flipV="0">
            <a:off x="7324515" y="5234760"/>
            <a:ext cx="4804277" cy="320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500" b="1" i="1">
                <a:solidFill>
                  <a:srgbClr val="1A6BB0"/>
                </a:solidFill>
              </a:rPr>
              <a:t>SimPy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75065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2545657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Modelo de Canal: Atraso + Perda</a:t>
            </a:r>
            <a:endParaRPr/>
          </a:p>
        </p:txBody>
      </p:sp>
      <p:sp>
        <p:nvSpPr>
          <p:cNvPr id="1962476767" name="Rectangle 3"/>
          <p:cNvSpPr/>
          <p:nvPr/>
        </p:nvSpPr>
        <p:spPr bwMode="auto">
          <a:xfrm>
            <a:off x="365760" y="1051560"/>
            <a:ext cx="548640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6B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37062579" name="TextBox 4"/>
          <p:cNvSpPr txBox="1"/>
          <p:nvPr/>
        </p:nvSpPr>
        <p:spPr bwMode="auto">
          <a:xfrm>
            <a:off x="502920" y="111556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102A4A"/>
                </a:solidFill>
              </a:rPr>
              <a:t>Atraso unidirecional</a:t>
            </a:r>
            <a:endParaRPr/>
          </a:p>
        </p:txBody>
      </p:sp>
      <p:sp>
        <p:nvSpPr>
          <p:cNvPr id="2082225951" name="TextBox 5"/>
          <p:cNvSpPr txBox="1"/>
          <p:nvPr/>
        </p:nvSpPr>
        <p:spPr bwMode="auto">
          <a:xfrm>
            <a:off x="502920" y="160020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2200" b="1" i="0">
                <a:solidFill>
                  <a:srgbClr val="1A6BB0"/>
                </a:solidFill>
              </a:rPr>
              <a:t>D ~ 𝒩(μ, σ²)     RTT = 2μ</a:t>
            </a:r>
            <a:endParaRPr/>
          </a:p>
        </p:txBody>
      </p:sp>
      <p:sp>
        <p:nvSpPr>
          <p:cNvPr id="1144202994" name="TextBox 6"/>
          <p:cNvSpPr txBox="1"/>
          <p:nvPr/>
        </p:nvSpPr>
        <p:spPr bwMode="auto">
          <a:xfrm>
            <a:off x="502920" y="224028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μ = atraso médio do cenário (10 / 50 / 100 ms)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σ = jitter (avaliado em D7)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Amostras negativas truncadas em 0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Ordem preservada no enlace (anti-reordenação)</a:t>
            </a:r>
            <a:endParaRPr/>
          </a:p>
        </p:txBody>
      </p:sp>
      <p:sp>
        <p:nvSpPr>
          <p:cNvPr id="660562819" name="Rectangle 7"/>
          <p:cNvSpPr/>
          <p:nvPr/>
        </p:nvSpPr>
        <p:spPr bwMode="auto">
          <a:xfrm>
            <a:off x="6309360" y="1051560"/>
            <a:ext cx="548640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90140674" name="TextBox 8"/>
          <p:cNvSpPr txBox="1"/>
          <p:nvPr/>
        </p:nvSpPr>
        <p:spPr bwMode="auto">
          <a:xfrm>
            <a:off x="6446520" y="111556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102A4A"/>
                </a:solidFill>
              </a:rPr>
              <a:t>Perda por bloco (Bernoulli)</a:t>
            </a:r>
            <a:endParaRPr/>
          </a:p>
        </p:txBody>
      </p:sp>
      <p:sp>
        <p:nvSpPr>
          <p:cNvPr id="1060634850" name="TextBox 9"/>
          <p:cNvSpPr txBox="1"/>
          <p:nvPr/>
        </p:nvSpPr>
        <p:spPr bwMode="auto">
          <a:xfrm>
            <a:off x="6446520" y="1600200"/>
            <a:ext cx="5212440" cy="42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2200" b="1" i="0">
                <a:solidFill>
                  <a:srgbClr val="E06C0A"/>
                </a:solidFill>
              </a:rPr>
              <a:t>P(perda) = pef</a:t>
            </a:r>
            <a:endParaRPr/>
          </a:p>
        </p:txBody>
      </p:sp>
      <p:sp>
        <p:nvSpPr>
          <p:cNvPr id="985695691" name="TextBox 10"/>
          <p:cNvSpPr txBox="1"/>
          <p:nvPr/>
        </p:nvSpPr>
        <p:spPr bwMode="auto">
          <a:xfrm>
            <a:off x="6446520" y="2240280"/>
            <a:ext cx="5212440" cy="10743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Descarte independente por bloco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pef = 1 − (1−p)³  (fragmentação IP)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ACKs: entregues com confiabilidade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Simplificação discutida na Seção 5</a:t>
            </a:r>
            <a:endParaRPr/>
          </a:p>
        </p:txBody>
      </p:sp>
      <p:sp>
        <p:nvSpPr>
          <p:cNvPr id="2092462363" name="Rectangle 11"/>
          <p:cNvSpPr/>
          <p:nvPr/>
        </p:nvSpPr>
        <p:spPr bwMode="auto">
          <a:xfrm>
            <a:off x="365760" y="3794760"/>
            <a:ext cx="11430000" cy="1005840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17134774" name="TextBox 12"/>
          <p:cNvSpPr txBox="1"/>
          <p:nvPr/>
        </p:nvSpPr>
        <p:spPr bwMode="auto">
          <a:xfrm>
            <a:off x="502920" y="384048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1">
                <a:solidFill>
                  <a:srgbClr val="444444"/>
                </a:solidFill>
              </a:rPr>
              <a:t>Os dois processos são independentes entre si — o modelo não captura correlação entre perda e atraso nem perda de ACKs. Essas simplificações são analisadas na discussão.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976063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05770921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Motor Go-Back-N Orientado a Eventos</a:t>
            </a:r>
            <a:endParaRPr/>
          </a:p>
        </p:txBody>
      </p:sp>
      <p:sp>
        <p:nvSpPr>
          <p:cNvPr id="148144786" name="Rectangle 3"/>
          <p:cNvSpPr/>
          <p:nvPr/>
        </p:nvSpPr>
        <p:spPr bwMode="auto">
          <a:xfrm>
            <a:off x="365760" y="1097280"/>
            <a:ext cx="640080" cy="64008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97310015" name="TextBox 4"/>
          <p:cNvSpPr txBox="1"/>
          <p:nvPr/>
        </p:nvSpPr>
        <p:spPr bwMode="auto">
          <a:xfrm>
            <a:off x="365760" y="1143000"/>
            <a:ext cx="640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2000" b="1" i="0">
                <a:solidFill>
                  <a:srgbClr val="FFFFFF"/>
                </a:solidFill>
              </a:rPr>
              <a:t>1</a:t>
            </a:r>
            <a:endParaRPr/>
          </a:p>
        </p:txBody>
      </p:sp>
      <p:sp>
        <p:nvSpPr>
          <p:cNvPr id="144776958" name="TextBox 5"/>
          <p:cNvSpPr txBox="1"/>
          <p:nvPr/>
        </p:nvSpPr>
        <p:spPr bwMode="auto">
          <a:xfrm>
            <a:off x="1143000" y="1097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1" i="0">
                <a:solidFill>
                  <a:srgbClr val="102A4A"/>
                </a:solidFill>
              </a:rPr>
              <a:t>Emissor preenche janela</a:t>
            </a:r>
            <a:endParaRPr/>
          </a:p>
        </p:txBody>
      </p:sp>
      <p:sp>
        <p:nvSpPr>
          <p:cNvPr id="60525222" name="TextBox 6"/>
          <p:cNvSpPr txBox="1"/>
          <p:nvPr/>
        </p:nvSpPr>
        <p:spPr bwMode="auto">
          <a:xfrm>
            <a:off x="1143000" y="152704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Envia até N blocos em paralelo, agendando chegada no receptor</a:t>
            </a:r>
            <a:endParaRPr/>
          </a:p>
        </p:txBody>
      </p:sp>
      <p:sp>
        <p:nvSpPr>
          <p:cNvPr id="150659566" name="Rectangle 7"/>
          <p:cNvSpPr/>
          <p:nvPr/>
        </p:nvSpPr>
        <p:spPr bwMode="auto">
          <a:xfrm>
            <a:off x="365760" y="2139696"/>
            <a:ext cx="640080" cy="64008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17073647" name="TextBox 8"/>
          <p:cNvSpPr txBox="1"/>
          <p:nvPr/>
        </p:nvSpPr>
        <p:spPr bwMode="auto">
          <a:xfrm>
            <a:off x="365760" y="2185415"/>
            <a:ext cx="640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2000" b="1" i="0">
                <a:solidFill>
                  <a:srgbClr val="FFFFFF"/>
                </a:solidFill>
              </a:rPr>
              <a:t>2</a:t>
            </a:r>
            <a:endParaRPr/>
          </a:p>
        </p:txBody>
      </p:sp>
      <p:sp>
        <p:nvSpPr>
          <p:cNvPr id="274593679" name="TextBox 9"/>
          <p:cNvSpPr txBox="1"/>
          <p:nvPr/>
        </p:nvSpPr>
        <p:spPr bwMode="auto">
          <a:xfrm>
            <a:off x="1143000" y="2139696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1" i="0">
                <a:solidFill>
                  <a:srgbClr val="102A4A"/>
                </a:solidFill>
              </a:rPr>
              <a:t>Aguarda o primeiro evento</a:t>
            </a:r>
            <a:endParaRPr/>
          </a:p>
        </p:txBody>
      </p:sp>
      <p:sp>
        <p:nvSpPr>
          <p:cNvPr id="1330904475" name="TextBox 10"/>
          <p:cNvSpPr txBox="1"/>
          <p:nvPr/>
        </p:nvSpPr>
        <p:spPr bwMode="auto">
          <a:xfrm>
            <a:off x="1143000" y="2569463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ACK que avança a base  OU  disparo do timer (timeout = 0,5 s)</a:t>
            </a:r>
            <a:endParaRPr/>
          </a:p>
        </p:txBody>
      </p:sp>
      <p:sp>
        <p:nvSpPr>
          <p:cNvPr id="2138267851" name="Rectangle 11"/>
          <p:cNvSpPr/>
          <p:nvPr/>
        </p:nvSpPr>
        <p:spPr bwMode="auto">
          <a:xfrm>
            <a:off x="365760" y="3182111"/>
            <a:ext cx="640080" cy="64008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86618888" name="TextBox 12"/>
          <p:cNvSpPr txBox="1"/>
          <p:nvPr/>
        </p:nvSpPr>
        <p:spPr bwMode="auto">
          <a:xfrm>
            <a:off x="365760" y="3227831"/>
            <a:ext cx="640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2000" b="1" i="0">
                <a:solidFill>
                  <a:srgbClr val="FFFFFF"/>
                </a:solidFill>
              </a:rPr>
              <a:t>3</a:t>
            </a:r>
            <a:endParaRPr/>
          </a:p>
        </p:txBody>
      </p:sp>
      <p:sp>
        <p:nvSpPr>
          <p:cNvPr id="553865735" name="TextBox 13"/>
          <p:cNvSpPr txBox="1"/>
          <p:nvPr/>
        </p:nvSpPr>
        <p:spPr bwMode="auto">
          <a:xfrm>
            <a:off x="1143000" y="3182111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1" i="0">
                <a:solidFill>
                  <a:srgbClr val="102A4A"/>
                </a:solidFill>
              </a:rPr>
              <a:t>ACK recebido</a:t>
            </a:r>
            <a:endParaRPr/>
          </a:p>
        </p:txBody>
      </p:sp>
      <p:sp>
        <p:nvSpPr>
          <p:cNvPr id="2056494024" name="TextBox 14"/>
          <p:cNvSpPr txBox="1"/>
          <p:nvPr/>
        </p:nvSpPr>
        <p:spPr bwMode="auto">
          <a:xfrm>
            <a:off x="1143000" y="361187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Base da janela avança; timer é reiniciado; novos blocos preenchem a janela</a:t>
            </a:r>
            <a:endParaRPr/>
          </a:p>
        </p:txBody>
      </p:sp>
      <p:sp>
        <p:nvSpPr>
          <p:cNvPr id="732878124" name="Rectangle 15"/>
          <p:cNvSpPr/>
          <p:nvPr/>
        </p:nvSpPr>
        <p:spPr bwMode="auto">
          <a:xfrm>
            <a:off x="365760" y="4224528"/>
            <a:ext cx="640080" cy="640080"/>
          </a:xfrm>
          <a:prstGeom prst="rect">
            <a:avLst/>
          </a:prstGeom>
          <a:solidFill>
            <a:srgbClr val="E0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94169247" name="TextBox 16"/>
          <p:cNvSpPr txBox="1"/>
          <p:nvPr/>
        </p:nvSpPr>
        <p:spPr bwMode="auto">
          <a:xfrm>
            <a:off x="365760" y="4270248"/>
            <a:ext cx="640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2000" b="1" i="0">
                <a:solidFill>
                  <a:srgbClr val="FFFFFF"/>
                </a:solidFill>
              </a:rPr>
              <a:t>4</a:t>
            </a:r>
            <a:endParaRPr/>
          </a:p>
        </p:txBody>
      </p:sp>
      <p:sp>
        <p:nvSpPr>
          <p:cNvPr id="114757879" name="TextBox 17"/>
          <p:cNvSpPr txBox="1"/>
          <p:nvPr/>
        </p:nvSpPr>
        <p:spPr bwMode="auto">
          <a:xfrm>
            <a:off x="1143000" y="42245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1" i="0">
                <a:solidFill>
                  <a:srgbClr val="102A4A"/>
                </a:solidFill>
              </a:rPr>
              <a:t>Timer expirou</a:t>
            </a:r>
            <a:endParaRPr/>
          </a:p>
        </p:txBody>
      </p:sp>
      <p:sp>
        <p:nvSpPr>
          <p:cNvPr id="987697424" name="TextBox 18"/>
          <p:cNvSpPr txBox="1"/>
          <p:nvPr/>
        </p:nvSpPr>
        <p:spPr bwMode="auto">
          <a:xfrm>
            <a:off x="1143000" y="465429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Retransmite todos os blocos a partir da base — comportamento clássico GBN</a:t>
            </a:r>
            <a:endParaRPr/>
          </a:p>
        </p:txBody>
      </p:sp>
      <p:sp>
        <p:nvSpPr>
          <p:cNvPr id="526543326" name="Rectangle 19"/>
          <p:cNvSpPr/>
          <p:nvPr/>
        </p:nvSpPr>
        <p:spPr bwMode="auto">
          <a:xfrm>
            <a:off x="365760" y="5266944"/>
            <a:ext cx="640080" cy="64008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98578311" name="TextBox 20"/>
          <p:cNvSpPr txBox="1"/>
          <p:nvPr/>
        </p:nvSpPr>
        <p:spPr bwMode="auto">
          <a:xfrm>
            <a:off x="365760" y="5312664"/>
            <a:ext cx="640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2000" b="1" i="0">
                <a:solidFill>
                  <a:srgbClr val="FFFFFF"/>
                </a:solidFill>
              </a:rPr>
              <a:t>5</a:t>
            </a:r>
            <a:endParaRPr/>
          </a:p>
        </p:txBody>
      </p:sp>
      <p:sp>
        <p:nvSpPr>
          <p:cNvPr id="387819006" name="TextBox 21"/>
          <p:cNvSpPr txBox="1"/>
          <p:nvPr/>
        </p:nvSpPr>
        <p:spPr bwMode="auto">
          <a:xfrm>
            <a:off x="1143000" y="526694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1" i="0">
                <a:solidFill>
                  <a:srgbClr val="102A4A"/>
                </a:solidFill>
              </a:rPr>
              <a:t>Fim</a:t>
            </a:r>
            <a:endParaRPr/>
          </a:p>
        </p:txBody>
      </p:sp>
      <p:sp>
        <p:nvSpPr>
          <p:cNvPr id="670849683" name="TextBox 22"/>
          <p:cNvSpPr txBox="1"/>
          <p:nvPr/>
        </p:nvSpPr>
        <p:spPr bwMode="auto">
          <a:xfrm>
            <a:off x="1143000" y="569671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Todos os 256 blocos confirmados → transferência encerrada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6253153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1422278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Mapeamento Real → Simulado &amp; TDD</a:t>
            </a:r>
            <a:endParaRPr/>
          </a:p>
        </p:txBody>
      </p:sp>
      <p:sp>
        <p:nvSpPr>
          <p:cNvPr id="215777234" name="Rectangle 3"/>
          <p:cNvSpPr/>
          <p:nvPr/>
        </p:nvSpPr>
        <p:spPr bwMode="auto">
          <a:xfrm>
            <a:off x="365760" y="1051560"/>
            <a:ext cx="566928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6B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34715308" name="TextBox 4"/>
          <p:cNvSpPr txBox="1"/>
          <p:nvPr/>
        </p:nvSpPr>
        <p:spPr bwMode="auto">
          <a:xfrm>
            <a:off x="50292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1A6BB0"/>
                </a:solidFill>
              </a:rPr>
              <a:t>Parâmetros diretos do sistema real</a:t>
            </a:r>
            <a:endParaRPr/>
          </a:p>
        </p:txBody>
      </p:sp>
      <p:sp>
        <p:nvSpPr>
          <p:cNvPr id="342006755" name="TextBox 5"/>
          <p:cNvSpPr txBox="1"/>
          <p:nvPr/>
        </p:nvSpPr>
        <p:spPr bwMode="auto">
          <a:xfrm>
            <a:off x="548640" y="1554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102A4A"/>
                </a:solidFill>
              </a:rPr>
              <a:t>Janela N:</a:t>
            </a:r>
            <a:endParaRPr/>
          </a:p>
        </p:txBody>
      </p:sp>
      <p:sp>
        <p:nvSpPr>
          <p:cNvPr id="1329786510" name="TextBox 6"/>
          <p:cNvSpPr txBox="1"/>
          <p:nvPr/>
        </p:nvSpPr>
        <p:spPr bwMode="auto">
          <a:xfrm>
            <a:off x="2926080" y="1554480"/>
            <a:ext cx="3017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444444"/>
                </a:solidFill>
              </a:rPr>
              <a:t>8</a:t>
            </a:r>
            <a:endParaRPr/>
          </a:p>
        </p:txBody>
      </p:sp>
      <p:sp>
        <p:nvSpPr>
          <p:cNvPr id="541243819" name="TextBox 7"/>
          <p:cNvSpPr txBox="1"/>
          <p:nvPr/>
        </p:nvSpPr>
        <p:spPr bwMode="auto">
          <a:xfrm>
            <a:off x="548640" y="2066543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102A4A"/>
                </a:solidFill>
              </a:rPr>
              <a:t>Timeout:</a:t>
            </a:r>
            <a:endParaRPr/>
          </a:p>
        </p:txBody>
      </p:sp>
      <p:sp>
        <p:nvSpPr>
          <p:cNvPr id="1753957076" name="TextBox 8"/>
          <p:cNvSpPr txBox="1"/>
          <p:nvPr/>
        </p:nvSpPr>
        <p:spPr bwMode="auto">
          <a:xfrm>
            <a:off x="2926080" y="2066543"/>
            <a:ext cx="3017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444444"/>
                </a:solidFill>
              </a:rPr>
              <a:t>0,5 s</a:t>
            </a:r>
            <a:endParaRPr/>
          </a:p>
        </p:txBody>
      </p:sp>
      <p:sp>
        <p:nvSpPr>
          <p:cNvPr id="201544660" name="TextBox 9"/>
          <p:cNvSpPr txBox="1"/>
          <p:nvPr/>
        </p:nvSpPr>
        <p:spPr bwMode="auto">
          <a:xfrm>
            <a:off x="548640" y="257860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102A4A"/>
                </a:solidFill>
              </a:rPr>
              <a:t>Bloco:</a:t>
            </a:r>
            <a:endParaRPr/>
          </a:p>
        </p:txBody>
      </p:sp>
      <p:sp>
        <p:nvSpPr>
          <p:cNvPr id="1565765082" name="TextBox 10"/>
          <p:cNvSpPr txBox="1"/>
          <p:nvPr/>
        </p:nvSpPr>
        <p:spPr bwMode="auto">
          <a:xfrm>
            <a:off x="2926080" y="2578608"/>
            <a:ext cx="3017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444444"/>
                </a:solidFill>
              </a:rPr>
              <a:t>4 096 bytes</a:t>
            </a:r>
            <a:endParaRPr/>
          </a:p>
        </p:txBody>
      </p:sp>
      <p:sp>
        <p:nvSpPr>
          <p:cNvPr id="433472806" name="TextBox 11"/>
          <p:cNvSpPr txBox="1"/>
          <p:nvPr/>
        </p:nvSpPr>
        <p:spPr bwMode="auto">
          <a:xfrm>
            <a:off x="548640" y="309067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102A4A"/>
                </a:solidFill>
              </a:rPr>
              <a:t>Blocos:</a:t>
            </a:r>
            <a:endParaRPr/>
          </a:p>
        </p:txBody>
      </p:sp>
      <p:sp>
        <p:nvSpPr>
          <p:cNvPr id="2126781041" name="TextBox 12"/>
          <p:cNvSpPr txBox="1"/>
          <p:nvPr/>
        </p:nvSpPr>
        <p:spPr bwMode="auto">
          <a:xfrm>
            <a:off x="2926080" y="3090672"/>
            <a:ext cx="3017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444444"/>
                </a:solidFill>
              </a:rPr>
              <a:t>256 por arquivo</a:t>
            </a:r>
            <a:endParaRPr/>
          </a:p>
        </p:txBody>
      </p:sp>
      <p:sp>
        <p:nvSpPr>
          <p:cNvPr id="1854115388" name="TextBox 13"/>
          <p:cNvSpPr txBox="1"/>
          <p:nvPr/>
        </p:nvSpPr>
        <p:spPr bwMode="auto">
          <a:xfrm>
            <a:off x="548640" y="3602735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102A4A"/>
                </a:solidFill>
              </a:rPr>
              <a:t>RTT:</a:t>
            </a:r>
            <a:endParaRPr/>
          </a:p>
        </p:txBody>
      </p:sp>
      <p:sp>
        <p:nvSpPr>
          <p:cNvPr id="2113121031" name="TextBox 14"/>
          <p:cNvSpPr txBox="1"/>
          <p:nvPr/>
        </p:nvSpPr>
        <p:spPr bwMode="auto">
          <a:xfrm>
            <a:off x="2926080" y="3602735"/>
            <a:ext cx="3017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444444"/>
                </a:solidFill>
              </a:rPr>
              <a:t>20 / 100 / 200 ms</a:t>
            </a:r>
            <a:endParaRPr/>
          </a:p>
        </p:txBody>
      </p:sp>
      <p:sp>
        <p:nvSpPr>
          <p:cNvPr id="713702100" name="TextBox 15"/>
          <p:cNvSpPr txBox="1"/>
          <p:nvPr/>
        </p:nvSpPr>
        <p:spPr bwMode="auto">
          <a:xfrm>
            <a:off x="548640" y="41148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102A4A"/>
                </a:solidFill>
              </a:rPr>
              <a:t>p_ef:</a:t>
            </a:r>
            <a:endParaRPr/>
          </a:p>
        </p:txBody>
      </p:sp>
      <p:sp>
        <p:nvSpPr>
          <p:cNvPr id="1181591386" name="TextBox 16"/>
          <p:cNvSpPr txBox="1"/>
          <p:nvPr/>
        </p:nvSpPr>
        <p:spPr bwMode="auto">
          <a:xfrm>
            <a:off x="2926080" y="4114800"/>
            <a:ext cx="3017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444444"/>
                </a:solidFill>
              </a:rPr>
              <a:t>0 / 27,1 / 48,8 %</a:t>
            </a:r>
            <a:endParaRPr/>
          </a:p>
        </p:txBody>
      </p:sp>
      <p:sp>
        <p:nvSpPr>
          <p:cNvPr id="1091596161" name="TextBox 17"/>
          <p:cNvSpPr txBox="1"/>
          <p:nvPr/>
        </p:nvSpPr>
        <p:spPr bwMode="auto">
          <a:xfrm>
            <a:off x="548640" y="462686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102A4A"/>
                </a:solidFill>
              </a:rPr>
              <a:t>Ajustes:</a:t>
            </a:r>
            <a:endParaRPr/>
          </a:p>
        </p:txBody>
      </p:sp>
      <p:sp>
        <p:nvSpPr>
          <p:cNvPr id="867578004" name="TextBox 18"/>
          <p:cNvSpPr txBox="1"/>
          <p:nvPr/>
        </p:nvSpPr>
        <p:spPr bwMode="auto">
          <a:xfrm>
            <a:off x="2926080" y="4626864"/>
            <a:ext cx="3017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E06C0A"/>
                </a:solidFill>
              </a:rPr>
              <a:t>NENHUM</a:t>
            </a:r>
            <a:endParaRPr/>
          </a:p>
        </p:txBody>
      </p:sp>
      <p:sp>
        <p:nvSpPr>
          <p:cNvPr id="1229588899" name="Rectangle 19"/>
          <p:cNvSpPr/>
          <p:nvPr/>
        </p:nvSpPr>
        <p:spPr bwMode="auto">
          <a:xfrm>
            <a:off x="6400800" y="1051560"/>
            <a:ext cx="5486400" cy="41148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0493400" name="TextBox 20"/>
          <p:cNvSpPr txBox="1"/>
          <p:nvPr/>
        </p:nvSpPr>
        <p:spPr bwMode="auto">
          <a:xfrm>
            <a:off x="6537960" y="10972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E06C0A"/>
                </a:solidFill>
              </a:rPr>
              <a:t>Desenvolvimento Guiado por Testes</a:t>
            </a:r>
            <a:endParaRPr/>
          </a:p>
        </p:txBody>
      </p:sp>
      <p:sp>
        <p:nvSpPr>
          <p:cNvPr id="1119005439" name="TextBox 21"/>
          <p:cNvSpPr txBox="1"/>
          <p:nvPr/>
        </p:nvSpPr>
        <p:spPr bwMode="auto">
          <a:xfrm>
            <a:off x="6537960" y="16002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FFFFFF"/>
                </a:solidFill>
              </a:rPr>
              <a:t>✓  51 testes unitários</a:t>
            </a:r>
            <a:endParaRPr/>
          </a:p>
        </p:txBody>
      </p:sp>
      <p:sp>
        <p:nvSpPr>
          <p:cNvPr id="582314117" name="TextBox 22"/>
          <p:cNvSpPr txBox="1"/>
          <p:nvPr/>
        </p:nvSpPr>
        <p:spPr bwMode="auto">
          <a:xfrm>
            <a:off x="6537960" y="216712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5BB4F5"/>
                </a:solidFill>
              </a:rPr>
              <a:t>✓  Taxa de perda empírica ≈ p_ef</a:t>
            </a:r>
            <a:endParaRPr/>
          </a:p>
        </p:txBody>
      </p:sp>
      <p:sp>
        <p:nvSpPr>
          <p:cNvPr id="2006624948" name="TextBox 23"/>
          <p:cNvSpPr txBox="1"/>
          <p:nvPr/>
        </p:nvSpPr>
        <p:spPr bwMode="auto">
          <a:xfrm>
            <a:off x="6537960" y="273405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5BB4F5"/>
                </a:solidFill>
              </a:rPr>
              <a:t>✓  256 blocos entregues íntegros</a:t>
            </a:r>
            <a:endParaRPr/>
          </a:p>
        </p:txBody>
      </p:sp>
      <p:sp>
        <p:nvSpPr>
          <p:cNvPr id="55451621" name="TextBox 24"/>
          <p:cNvSpPr txBox="1"/>
          <p:nvPr/>
        </p:nvSpPr>
        <p:spPr bwMode="auto">
          <a:xfrm>
            <a:off x="6537960" y="330098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5BB4F5"/>
                </a:solidFill>
              </a:rPr>
              <a:t>✓  0 retransmissões sem perda</a:t>
            </a:r>
            <a:endParaRPr/>
          </a:p>
        </p:txBody>
      </p:sp>
      <p:sp>
        <p:nvSpPr>
          <p:cNvPr id="964661123" name="TextBox 25"/>
          <p:cNvSpPr txBox="1"/>
          <p:nvPr/>
        </p:nvSpPr>
        <p:spPr bwMode="auto">
          <a:xfrm>
            <a:off x="6537960" y="3867911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5BB4F5"/>
                </a:solidFill>
              </a:rPr>
              <a:t>✓  RTT simulado ≈ 2μ configurado</a:t>
            </a:r>
            <a:endParaRPr/>
          </a:p>
        </p:txBody>
      </p:sp>
      <p:sp>
        <p:nvSpPr>
          <p:cNvPr id="1224508067" name="TextBox 26"/>
          <p:cNvSpPr txBox="1"/>
          <p:nvPr/>
        </p:nvSpPr>
        <p:spPr bwMode="auto">
          <a:xfrm>
            <a:off x="6537960" y="44348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5BB4F5"/>
                </a:solidFill>
              </a:rPr>
              <a:t>✓  Sementes fixas → reprodutível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2A4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9131447" name="Rectangle 1"/>
          <p:cNvSpPr/>
          <p:nvPr/>
        </p:nvSpPr>
        <p:spPr bwMode="auto">
          <a:xfrm>
            <a:off x="0" y="0"/>
            <a:ext cx="109728" cy="685800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00501473" name="TextBox 2"/>
          <p:cNvSpPr txBox="1"/>
          <p:nvPr/>
        </p:nvSpPr>
        <p:spPr bwMode="auto">
          <a:xfrm>
            <a:off x="320040" y="2011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4600" b="1" i="0">
                <a:solidFill>
                  <a:srgbClr val="FFFFFF"/>
                </a:solidFill>
              </a:rPr>
              <a:t>4. Calibração</a:t>
            </a:r>
            <a:endParaRPr/>
          </a:p>
        </p:txBody>
      </p:sp>
      <p:sp>
        <p:nvSpPr>
          <p:cNvPr id="842663128" name="TextBox 3"/>
          <p:cNvSpPr txBox="1"/>
          <p:nvPr/>
        </p:nvSpPr>
        <p:spPr bwMode="auto">
          <a:xfrm>
            <a:off x="320040" y="3566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200" b="0" i="0">
                <a:solidFill>
                  <a:srgbClr val="5BB4F5"/>
                </a:solidFill>
              </a:rPr>
              <a:t>Simulador vs. sistema real em 3 cenários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1511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04843367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Resultados de Calibração (30 repetições)</a:t>
            </a:r>
            <a:endParaRPr/>
          </a:p>
        </p:txBody>
      </p:sp>
      <p:sp>
        <p:nvSpPr>
          <p:cNvPr id="1739783436" name="TextBox 3"/>
          <p:cNvSpPr txBox="1"/>
          <p:nvPr/>
        </p:nvSpPr>
        <p:spPr bwMode="auto"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0" i="1">
                <a:solidFill>
                  <a:srgbClr val="444444"/>
                </a:solidFill>
              </a:rPr>
              <a:t>IC 95% por bootstrap percentílico (efron 1993)</a:t>
            </a:r>
            <a:endParaRPr/>
          </a:p>
        </p:txBody>
      </p:sp>
      <p:sp>
        <p:nvSpPr>
          <p:cNvPr id="1770883766" name="Rectangle 4"/>
          <p:cNvSpPr/>
          <p:nvPr/>
        </p:nvSpPr>
        <p:spPr bwMode="auto">
          <a:xfrm>
            <a:off x="320040" y="1371600"/>
            <a:ext cx="640080" cy="475488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4770579" name="TextBox 5"/>
          <p:cNvSpPr txBox="1"/>
          <p:nvPr/>
        </p:nvSpPr>
        <p:spPr bwMode="auto">
          <a:xfrm>
            <a:off x="347472" y="1399032"/>
            <a:ext cx="5852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200" b="1" i="0">
                <a:solidFill>
                  <a:srgbClr val="FFFFFF"/>
                </a:solidFill>
              </a:rPr>
              <a:t>Cen.</a:t>
            </a:r>
            <a:endParaRPr/>
          </a:p>
        </p:txBody>
      </p:sp>
      <p:sp>
        <p:nvSpPr>
          <p:cNvPr id="2074901885" name="Rectangle 6"/>
          <p:cNvSpPr/>
          <p:nvPr/>
        </p:nvSpPr>
        <p:spPr bwMode="auto">
          <a:xfrm>
            <a:off x="960119" y="1371600"/>
            <a:ext cx="1280160" cy="475488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2859615" name="TextBox 7"/>
          <p:cNvSpPr txBox="1"/>
          <p:nvPr/>
        </p:nvSpPr>
        <p:spPr bwMode="auto">
          <a:xfrm>
            <a:off x="987551" y="1399032"/>
            <a:ext cx="1225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200" b="1" i="0">
                <a:solidFill>
                  <a:srgbClr val="FFFFFF"/>
                </a:solidFill>
              </a:rPr>
              <a:t>Real (s)</a:t>
            </a:r>
            <a:endParaRPr/>
          </a:p>
        </p:txBody>
      </p:sp>
      <p:sp>
        <p:nvSpPr>
          <p:cNvPr id="1288078366" name="Rectangle 8"/>
          <p:cNvSpPr/>
          <p:nvPr/>
        </p:nvSpPr>
        <p:spPr bwMode="auto">
          <a:xfrm>
            <a:off x="2240279" y="1371600"/>
            <a:ext cx="1280160" cy="475488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8977572" name="TextBox 9"/>
          <p:cNvSpPr txBox="1"/>
          <p:nvPr/>
        </p:nvSpPr>
        <p:spPr bwMode="auto">
          <a:xfrm>
            <a:off x="2267711" y="1399032"/>
            <a:ext cx="1225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200" b="1" i="0">
                <a:solidFill>
                  <a:srgbClr val="FFFFFF"/>
                </a:solidFill>
              </a:rPr>
              <a:t>Sim. (s)</a:t>
            </a:r>
            <a:endParaRPr/>
          </a:p>
        </p:txBody>
      </p:sp>
      <p:sp>
        <p:nvSpPr>
          <p:cNvPr id="54248117" name="Rectangle 10"/>
          <p:cNvSpPr/>
          <p:nvPr/>
        </p:nvSpPr>
        <p:spPr bwMode="auto">
          <a:xfrm>
            <a:off x="3520439" y="1371600"/>
            <a:ext cx="2834640" cy="475488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8084821" name="TextBox 11"/>
          <p:cNvSpPr txBox="1"/>
          <p:nvPr/>
        </p:nvSpPr>
        <p:spPr bwMode="auto">
          <a:xfrm>
            <a:off x="3547871" y="1399032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200" b="1" i="0">
                <a:solidFill>
                  <a:srgbClr val="FFFFFF"/>
                </a:solidFill>
              </a:rPr>
              <a:t>IC 95% (s)</a:t>
            </a:r>
            <a:endParaRPr/>
          </a:p>
        </p:txBody>
      </p:sp>
      <p:sp>
        <p:nvSpPr>
          <p:cNvPr id="979737225" name="Rectangle 12"/>
          <p:cNvSpPr/>
          <p:nvPr/>
        </p:nvSpPr>
        <p:spPr bwMode="auto">
          <a:xfrm>
            <a:off x="6355079" y="1371600"/>
            <a:ext cx="1097280" cy="475488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2533940" name="TextBox 13"/>
          <p:cNvSpPr txBox="1"/>
          <p:nvPr/>
        </p:nvSpPr>
        <p:spPr bwMode="auto">
          <a:xfrm>
            <a:off x="6382512" y="1399032"/>
            <a:ext cx="1042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200" b="1" i="0">
                <a:solidFill>
                  <a:srgbClr val="FFFFFF"/>
                </a:solidFill>
              </a:rPr>
              <a:t>Erro</a:t>
            </a:r>
            <a:endParaRPr/>
          </a:p>
        </p:txBody>
      </p:sp>
      <p:sp>
        <p:nvSpPr>
          <p:cNvPr id="1244673273" name="Rectangle 14"/>
          <p:cNvSpPr/>
          <p:nvPr/>
        </p:nvSpPr>
        <p:spPr bwMode="auto">
          <a:xfrm>
            <a:off x="7452359" y="1371600"/>
            <a:ext cx="2011680" cy="475488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82905366" name="TextBox 15"/>
          <p:cNvSpPr txBox="1"/>
          <p:nvPr/>
        </p:nvSpPr>
        <p:spPr bwMode="auto">
          <a:xfrm>
            <a:off x="7479791" y="1399032"/>
            <a:ext cx="19568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200" b="1" i="0">
                <a:solidFill>
                  <a:srgbClr val="FFFFFF"/>
                </a:solidFill>
              </a:rPr>
              <a:t>Retx R/S</a:t>
            </a:r>
            <a:endParaRPr/>
          </a:p>
        </p:txBody>
      </p:sp>
      <p:sp>
        <p:nvSpPr>
          <p:cNvPr id="2032703056" name="Rectangle 16"/>
          <p:cNvSpPr/>
          <p:nvPr/>
        </p:nvSpPr>
        <p:spPr bwMode="auto">
          <a:xfrm>
            <a:off x="9464039" y="1371600"/>
            <a:ext cx="1645920" cy="475488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87192104" name="TextBox 17"/>
          <p:cNvSpPr txBox="1"/>
          <p:nvPr/>
        </p:nvSpPr>
        <p:spPr bwMode="auto">
          <a:xfrm>
            <a:off x="9491471" y="1399032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200" b="1" i="0">
                <a:solidFill>
                  <a:srgbClr val="FFFFFF"/>
                </a:solidFill>
              </a:rPr>
              <a:t>Real no IC?</a:t>
            </a:r>
            <a:endParaRPr/>
          </a:p>
        </p:txBody>
      </p:sp>
      <p:sp>
        <p:nvSpPr>
          <p:cNvPr id="635447863" name="Rectangle 18"/>
          <p:cNvSpPr/>
          <p:nvPr/>
        </p:nvSpPr>
        <p:spPr bwMode="auto">
          <a:xfrm>
            <a:off x="320040" y="1892807"/>
            <a:ext cx="640080" cy="749808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31649450" name="TextBox 19"/>
          <p:cNvSpPr txBox="1"/>
          <p:nvPr/>
        </p:nvSpPr>
        <p:spPr bwMode="auto">
          <a:xfrm>
            <a:off x="347472" y="2002536"/>
            <a:ext cx="585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102A4A"/>
                </a:solidFill>
              </a:rPr>
              <a:t>A</a:t>
            </a:r>
            <a:endParaRPr/>
          </a:p>
        </p:txBody>
      </p:sp>
      <p:sp>
        <p:nvSpPr>
          <p:cNvPr id="2060269695" name="Rectangle 20"/>
          <p:cNvSpPr/>
          <p:nvPr/>
        </p:nvSpPr>
        <p:spPr bwMode="auto">
          <a:xfrm>
            <a:off x="960119" y="1892807"/>
            <a:ext cx="1280160" cy="749808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97844531" name="TextBox 21"/>
          <p:cNvSpPr txBox="1"/>
          <p:nvPr/>
        </p:nvSpPr>
        <p:spPr bwMode="auto">
          <a:xfrm>
            <a:off x="987551" y="2002536"/>
            <a:ext cx="1225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0" i="0">
                <a:solidFill>
                  <a:srgbClr val="444444"/>
                </a:solidFill>
              </a:rPr>
              <a:t>0,676</a:t>
            </a:r>
            <a:endParaRPr/>
          </a:p>
        </p:txBody>
      </p:sp>
      <p:sp>
        <p:nvSpPr>
          <p:cNvPr id="1231763961" name="Rectangle 22"/>
          <p:cNvSpPr/>
          <p:nvPr/>
        </p:nvSpPr>
        <p:spPr bwMode="auto">
          <a:xfrm>
            <a:off x="2240279" y="1892807"/>
            <a:ext cx="1280160" cy="749808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52185606" name="TextBox 23"/>
          <p:cNvSpPr txBox="1"/>
          <p:nvPr/>
        </p:nvSpPr>
        <p:spPr bwMode="auto">
          <a:xfrm>
            <a:off x="2267711" y="2002536"/>
            <a:ext cx="1225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0" i="0">
                <a:solidFill>
                  <a:srgbClr val="444444"/>
                </a:solidFill>
              </a:rPr>
              <a:t>0,669</a:t>
            </a:r>
            <a:endParaRPr/>
          </a:p>
        </p:txBody>
      </p:sp>
      <p:sp>
        <p:nvSpPr>
          <p:cNvPr id="103659101" name="Rectangle 24"/>
          <p:cNvSpPr/>
          <p:nvPr/>
        </p:nvSpPr>
        <p:spPr bwMode="auto">
          <a:xfrm>
            <a:off x="3520439" y="1892807"/>
            <a:ext cx="2834640" cy="749808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52144667" name="TextBox 25"/>
          <p:cNvSpPr txBox="1"/>
          <p:nvPr/>
        </p:nvSpPr>
        <p:spPr bwMode="auto">
          <a:xfrm>
            <a:off x="3547871" y="2002536"/>
            <a:ext cx="27797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0" i="0">
                <a:solidFill>
                  <a:srgbClr val="444444"/>
                </a:solidFill>
              </a:rPr>
              <a:t>[0,668 ; 0,671]</a:t>
            </a:r>
            <a:endParaRPr/>
          </a:p>
        </p:txBody>
      </p:sp>
      <p:sp>
        <p:nvSpPr>
          <p:cNvPr id="1784444963" name="Rectangle 26"/>
          <p:cNvSpPr/>
          <p:nvPr/>
        </p:nvSpPr>
        <p:spPr bwMode="auto">
          <a:xfrm>
            <a:off x="6355079" y="1892807"/>
            <a:ext cx="1097280" cy="749808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90635621" name="TextBox 27"/>
          <p:cNvSpPr txBox="1"/>
          <p:nvPr/>
        </p:nvSpPr>
        <p:spPr bwMode="auto">
          <a:xfrm>
            <a:off x="6382512" y="2002536"/>
            <a:ext cx="1042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E06C0A"/>
                </a:solidFill>
              </a:rPr>
              <a:t>−1,0 %</a:t>
            </a:r>
            <a:endParaRPr/>
          </a:p>
        </p:txBody>
      </p:sp>
      <p:sp>
        <p:nvSpPr>
          <p:cNvPr id="1173807172" name="Rectangle 28"/>
          <p:cNvSpPr/>
          <p:nvPr/>
        </p:nvSpPr>
        <p:spPr bwMode="auto">
          <a:xfrm>
            <a:off x="7452359" y="1892807"/>
            <a:ext cx="2011680" cy="749808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80258872" name="TextBox 29"/>
          <p:cNvSpPr txBox="1"/>
          <p:nvPr/>
        </p:nvSpPr>
        <p:spPr bwMode="auto">
          <a:xfrm>
            <a:off x="7479791" y="2002536"/>
            <a:ext cx="19568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0" i="0">
                <a:solidFill>
                  <a:srgbClr val="444444"/>
                </a:solidFill>
              </a:rPr>
              <a:t>0,0 / 0,0</a:t>
            </a:r>
            <a:endParaRPr/>
          </a:p>
        </p:txBody>
      </p:sp>
      <p:sp>
        <p:nvSpPr>
          <p:cNvPr id="1556286483" name="Rectangle 30"/>
          <p:cNvSpPr/>
          <p:nvPr/>
        </p:nvSpPr>
        <p:spPr bwMode="auto">
          <a:xfrm>
            <a:off x="9464039" y="1892807"/>
            <a:ext cx="1645920" cy="749808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42830801" name="TextBox 31"/>
          <p:cNvSpPr txBox="1"/>
          <p:nvPr/>
        </p:nvSpPr>
        <p:spPr bwMode="auto">
          <a:xfrm>
            <a:off x="9491471" y="2002536"/>
            <a:ext cx="15910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1E8B4C"/>
                </a:solidFill>
              </a:rPr>
              <a:t>não</a:t>
            </a:r>
            <a:endParaRPr/>
          </a:p>
        </p:txBody>
      </p:sp>
      <p:sp>
        <p:nvSpPr>
          <p:cNvPr id="2099229877" name="Rectangle 32"/>
          <p:cNvSpPr/>
          <p:nvPr/>
        </p:nvSpPr>
        <p:spPr bwMode="auto">
          <a:xfrm>
            <a:off x="320040" y="2697479"/>
            <a:ext cx="64008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48348595" name="TextBox 33"/>
          <p:cNvSpPr txBox="1"/>
          <p:nvPr/>
        </p:nvSpPr>
        <p:spPr bwMode="auto">
          <a:xfrm>
            <a:off x="347472" y="2807208"/>
            <a:ext cx="585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102A4A"/>
                </a:solidFill>
              </a:rPr>
              <a:t>B</a:t>
            </a:r>
            <a:endParaRPr/>
          </a:p>
        </p:txBody>
      </p:sp>
      <p:sp>
        <p:nvSpPr>
          <p:cNvPr id="1501495376" name="Rectangle 34"/>
          <p:cNvSpPr/>
          <p:nvPr/>
        </p:nvSpPr>
        <p:spPr bwMode="auto">
          <a:xfrm>
            <a:off x="960119" y="2697479"/>
            <a:ext cx="128016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26172210" name="TextBox 35"/>
          <p:cNvSpPr txBox="1"/>
          <p:nvPr/>
        </p:nvSpPr>
        <p:spPr bwMode="auto">
          <a:xfrm>
            <a:off x="987551" y="2807208"/>
            <a:ext cx="1225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0" i="0">
                <a:solidFill>
                  <a:srgbClr val="444444"/>
                </a:solidFill>
              </a:rPr>
              <a:t>53,165</a:t>
            </a:r>
            <a:endParaRPr/>
          </a:p>
        </p:txBody>
      </p:sp>
      <p:sp>
        <p:nvSpPr>
          <p:cNvPr id="740739774" name="Rectangle 36"/>
          <p:cNvSpPr/>
          <p:nvPr/>
        </p:nvSpPr>
        <p:spPr bwMode="auto">
          <a:xfrm>
            <a:off x="2240279" y="2697479"/>
            <a:ext cx="128016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07069541" name="TextBox 37"/>
          <p:cNvSpPr txBox="1"/>
          <p:nvPr/>
        </p:nvSpPr>
        <p:spPr bwMode="auto">
          <a:xfrm>
            <a:off x="2267711" y="2807208"/>
            <a:ext cx="1225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0" i="0">
                <a:solidFill>
                  <a:srgbClr val="444444"/>
                </a:solidFill>
              </a:rPr>
              <a:t>57,088</a:t>
            </a:r>
            <a:endParaRPr/>
          </a:p>
        </p:txBody>
      </p:sp>
      <p:sp>
        <p:nvSpPr>
          <p:cNvPr id="1981541385" name="Rectangle 38"/>
          <p:cNvSpPr/>
          <p:nvPr/>
        </p:nvSpPr>
        <p:spPr bwMode="auto">
          <a:xfrm>
            <a:off x="3520439" y="2697479"/>
            <a:ext cx="283464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0532585" name="TextBox 39"/>
          <p:cNvSpPr txBox="1"/>
          <p:nvPr/>
        </p:nvSpPr>
        <p:spPr bwMode="auto">
          <a:xfrm>
            <a:off x="3547871" y="2807208"/>
            <a:ext cx="27797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0" i="0">
                <a:solidFill>
                  <a:srgbClr val="444444"/>
                </a:solidFill>
              </a:rPr>
              <a:t>[55,197 ; 58,942]</a:t>
            </a:r>
            <a:endParaRPr/>
          </a:p>
        </p:txBody>
      </p:sp>
      <p:sp>
        <p:nvSpPr>
          <p:cNvPr id="1720526732" name="Rectangle 40"/>
          <p:cNvSpPr/>
          <p:nvPr/>
        </p:nvSpPr>
        <p:spPr bwMode="auto">
          <a:xfrm>
            <a:off x="6355079" y="2697479"/>
            <a:ext cx="109728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47682584" name="TextBox 41"/>
          <p:cNvSpPr txBox="1"/>
          <p:nvPr/>
        </p:nvSpPr>
        <p:spPr bwMode="auto">
          <a:xfrm>
            <a:off x="6382512" y="2807208"/>
            <a:ext cx="1042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E06C0A"/>
                </a:solidFill>
              </a:rPr>
              <a:t>+7,4 %</a:t>
            </a:r>
            <a:endParaRPr/>
          </a:p>
        </p:txBody>
      </p:sp>
      <p:sp>
        <p:nvSpPr>
          <p:cNvPr id="980654119" name="Rectangle 42"/>
          <p:cNvSpPr/>
          <p:nvPr/>
        </p:nvSpPr>
        <p:spPr bwMode="auto">
          <a:xfrm>
            <a:off x="7452359" y="2697479"/>
            <a:ext cx="201168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87944202" name="TextBox 43"/>
          <p:cNvSpPr txBox="1"/>
          <p:nvPr/>
        </p:nvSpPr>
        <p:spPr bwMode="auto">
          <a:xfrm>
            <a:off x="7479791" y="2807208"/>
            <a:ext cx="19568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0" i="0">
                <a:solidFill>
                  <a:srgbClr val="444444"/>
                </a:solidFill>
              </a:rPr>
              <a:t>91,1 / 98,0</a:t>
            </a:r>
            <a:endParaRPr/>
          </a:p>
        </p:txBody>
      </p:sp>
      <p:sp>
        <p:nvSpPr>
          <p:cNvPr id="804661221" name="Rectangle 44"/>
          <p:cNvSpPr/>
          <p:nvPr/>
        </p:nvSpPr>
        <p:spPr bwMode="auto">
          <a:xfrm>
            <a:off x="9464039" y="2697479"/>
            <a:ext cx="16459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84305162" name="TextBox 45"/>
          <p:cNvSpPr txBox="1"/>
          <p:nvPr/>
        </p:nvSpPr>
        <p:spPr bwMode="auto">
          <a:xfrm>
            <a:off x="9491471" y="2807208"/>
            <a:ext cx="15910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E06C0A"/>
                </a:solidFill>
              </a:rPr>
              <a:t>não</a:t>
            </a:r>
            <a:endParaRPr/>
          </a:p>
        </p:txBody>
      </p:sp>
      <p:sp>
        <p:nvSpPr>
          <p:cNvPr id="152429832" name="Rectangle 46"/>
          <p:cNvSpPr/>
          <p:nvPr/>
        </p:nvSpPr>
        <p:spPr bwMode="auto">
          <a:xfrm>
            <a:off x="320040" y="3502152"/>
            <a:ext cx="640080" cy="749808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40831042" name="TextBox 47"/>
          <p:cNvSpPr txBox="1"/>
          <p:nvPr/>
        </p:nvSpPr>
        <p:spPr bwMode="auto">
          <a:xfrm>
            <a:off x="347472" y="3611880"/>
            <a:ext cx="585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102A4A"/>
                </a:solidFill>
              </a:rPr>
              <a:t>C</a:t>
            </a:r>
            <a:endParaRPr/>
          </a:p>
        </p:txBody>
      </p:sp>
      <p:sp>
        <p:nvSpPr>
          <p:cNvPr id="1414113481" name="Rectangle 48"/>
          <p:cNvSpPr/>
          <p:nvPr/>
        </p:nvSpPr>
        <p:spPr bwMode="auto">
          <a:xfrm>
            <a:off x="960119" y="3502152"/>
            <a:ext cx="1280160" cy="749808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00165150" name="TextBox 49"/>
          <p:cNvSpPr txBox="1"/>
          <p:nvPr/>
        </p:nvSpPr>
        <p:spPr bwMode="auto">
          <a:xfrm>
            <a:off x="987551" y="3611880"/>
            <a:ext cx="1225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0" i="0">
                <a:solidFill>
                  <a:srgbClr val="444444"/>
                </a:solidFill>
              </a:rPr>
              <a:t>144,613</a:t>
            </a:r>
            <a:endParaRPr/>
          </a:p>
        </p:txBody>
      </p:sp>
      <p:sp>
        <p:nvSpPr>
          <p:cNvPr id="1004526022" name="Rectangle 50"/>
          <p:cNvSpPr/>
          <p:nvPr/>
        </p:nvSpPr>
        <p:spPr bwMode="auto">
          <a:xfrm>
            <a:off x="2240279" y="3502152"/>
            <a:ext cx="1280160" cy="749808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48339548" name="TextBox 51"/>
          <p:cNvSpPr txBox="1"/>
          <p:nvPr/>
        </p:nvSpPr>
        <p:spPr bwMode="auto">
          <a:xfrm>
            <a:off x="2267711" y="3611880"/>
            <a:ext cx="1225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0" i="0">
                <a:solidFill>
                  <a:srgbClr val="444444"/>
                </a:solidFill>
              </a:rPr>
              <a:t>148,788</a:t>
            </a:r>
            <a:endParaRPr/>
          </a:p>
        </p:txBody>
      </p:sp>
      <p:sp>
        <p:nvSpPr>
          <p:cNvPr id="463948470" name="Rectangle 52"/>
          <p:cNvSpPr/>
          <p:nvPr/>
        </p:nvSpPr>
        <p:spPr bwMode="auto">
          <a:xfrm>
            <a:off x="3520439" y="3502152"/>
            <a:ext cx="2834640" cy="749808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4785415" name="TextBox 53"/>
          <p:cNvSpPr txBox="1"/>
          <p:nvPr/>
        </p:nvSpPr>
        <p:spPr bwMode="auto">
          <a:xfrm>
            <a:off x="3547871" y="3611880"/>
            <a:ext cx="27797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0" i="0">
                <a:solidFill>
                  <a:srgbClr val="444444"/>
                </a:solidFill>
              </a:rPr>
              <a:t>[144,046 ; 153,388]</a:t>
            </a:r>
            <a:endParaRPr/>
          </a:p>
        </p:txBody>
      </p:sp>
      <p:sp>
        <p:nvSpPr>
          <p:cNvPr id="1206237654" name="Rectangle 54"/>
          <p:cNvSpPr/>
          <p:nvPr/>
        </p:nvSpPr>
        <p:spPr bwMode="auto">
          <a:xfrm>
            <a:off x="6355079" y="3502152"/>
            <a:ext cx="1097280" cy="749808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8916527" name="TextBox 55"/>
          <p:cNvSpPr txBox="1"/>
          <p:nvPr/>
        </p:nvSpPr>
        <p:spPr bwMode="auto">
          <a:xfrm>
            <a:off x="6382512" y="3611880"/>
            <a:ext cx="1042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E06C0A"/>
                </a:solidFill>
              </a:rPr>
              <a:t>+2,9 %</a:t>
            </a:r>
            <a:endParaRPr/>
          </a:p>
        </p:txBody>
      </p:sp>
      <p:sp>
        <p:nvSpPr>
          <p:cNvPr id="1737536675" name="Rectangle 56"/>
          <p:cNvSpPr/>
          <p:nvPr/>
        </p:nvSpPr>
        <p:spPr bwMode="auto">
          <a:xfrm>
            <a:off x="7452359" y="3502152"/>
            <a:ext cx="2011680" cy="749808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6093436" name="TextBox 57"/>
          <p:cNvSpPr txBox="1"/>
          <p:nvPr/>
        </p:nvSpPr>
        <p:spPr bwMode="auto">
          <a:xfrm>
            <a:off x="7479791" y="3611880"/>
            <a:ext cx="19568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0" i="0">
                <a:solidFill>
                  <a:srgbClr val="444444"/>
                </a:solidFill>
              </a:rPr>
              <a:t>238,5 / 245,6</a:t>
            </a:r>
            <a:endParaRPr/>
          </a:p>
        </p:txBody>
      </p:sp>
      <p:sp>
        <p:nvSpPr>
          <p:cNvPr id="399478760" name="Rectangle 58"/>
          <p:cNvSpPr/>
          <p:nvPr/>
        </p:nvSpPr>
        <p:spPr bwMode="auto">
          <a:xfrm>
            <a:off x="9464039" y="3502152"/>
            <a:ext cx="1645920" cy="749808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20223276" name="TextBox 59"/>
          <p:cNvSpPr txBox="1"/>
          <p:nvPr/>
        </p:nvSpPr>
        <p:spPr bwMode="auto">
          <a:xfrm>
            <a:off x="9491471" y="3611880"/>
            <a:ext cx="15910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1E8B4C"/>
                </a:solidFill>
              </a:rPr>
              <a:t>sim</a:t>
            </a:r>
            <a:endParaRPr/>
          </a:p>
        </p:txBody>
      </p:sp>
      <p:sp>
        <p:nvSpPr>
          <p:cNvPr id="1755354543" name="TextBox 60"/>
          <p:cNvSpPr txBox="1"/>
          <p:nvPr/>
        </p:nvSpPr>
        <p:spPr bwMode="auto">
          <a:xfrm>
            <a:off x="365760" y="4434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700" b="1" i="0">
                <a:solidFill>
                  <a:srgbClr val="E06C0A"/>
                </a:solidFill>
              </a:rPr>
              <a:t>Faixa de ~200× no tempo de transferência coberta com erro &lt; 7,5%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0995272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8974757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Convergência Estatística: IC Bootstrap 95%</a:t>
            </a:r>
            <a:endParaRPr/>
          </a:p>
        </p:txBody>
      </p:sp>
      <p:pic>
        <p:nvPicPr>
          <p:cNvPr id="1552493242" name="Picture 3" descr="fase2_convergencia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53066" y="1135672"/>
            <a:ext cx="6208380" cy="4434556"/>
          </a:xfrm>
          <a:prstGeom prst="rect">
            <a:avLst/>
          </a:prstGeom>
        </p:spPr>
      </p:pic>
      <p:sp>
        <p:nvSpPr>
          <p:cNvPr id="1239633742" name="TextBox 4"/>
          <p:cNvSpPr txBox="1"/>
          <p:nvPr/>
        </p:nvSpPr>
        <p:spPr bwMode="auto">
          <a:xfrm flipH="0" flipV="0">
            <a:off x="2553066" y="5806439"/>
            <a:ext cx="6209820" cy="518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0" i="1">
                <a:solidFill>
                  <a:srgbClr val="444444"/>
                </a:solidFill>
              </a:rPr>
              <a:t>Cenário C: valor real DENTRO do IC. Cenários A e B: viés sistemático pequeno — analisado na Seção 6.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8807573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44605306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Análise dos Erros Residuais</a:t>
            </a:r>
            <a:endParaRPr/>
          </a:p>
        </p:txBody>
      </p:sp>
      <p:sp>
        <p:nvSpPr>
          <p:cNvPr id="987341054" name="Rectangle 3"/>
          <p:cNvSpPr/>
          <p:nvPr/>
        </p:nvSpPr>
        <p:spPr bwMode="auto">
          <a:xfrm>
            <a:off x="365760" y="1097280"/>
            <a:ext cx="109728" cy="128016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46025511" name="TextBox 4"/>
          <p:cNvSpPr txBox="1"/>
          <p:nvPr/>
        </p:nvSpPr>
        <p:spPr bwMode="auto">
          <a:xfrm>
            <a:off x="594360" y="10972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1" i="0">
                <a:solidFill>
                  <a:srgbClr val="1E8B4C"/>
                </a:solidFill>
              </a:rPr>
              <a:t>Cenário A (−1,0%)</a:t>
            </a:r>
            <a:endParaRPr/>
          </a:p>
        </p:txBody>
      </p:sp>
      <p:sp>
        <p:nvSpPr>
          <p:cNvPr id="369154517" name="TextBox 5"/>
          <p:cNvSpPr txBox="1"/>
          <p:nvPr/>
        </p:nvSpPr>
        <p:spPr bwMode="auto">
          <a:xfrm>
            <a:off x="594360" y="153619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Simulador mais rápido — omite custos fixos de handshake, scheduling de sockets e encerramento. Esses efeitos dominam em transferências sub-segundo.</a:t>
            </a:r>
            <a:endParaRPr/>
          </a:p>
        </p:txBody>
      </p:sp>
      <p:sp>
        <p:nvSpPr>
          <p:cNvPr id="1909801789" name="Rectangle 6"/>
          <p:cNvSpPr/>
          <p:nvPr/>
        </p:nvSpPr>
        <p:spPr bwMode="auto">
          <a:xfrm>
            <a:off x="365760" y="2788920"/>
            <a:ext cx="109728" cy="1280160"/>
          </a:xfrm>
          <a:prstGeom prst="rect">
            <a:avLst/>
          </a:prstGeom>
          <a:solidFill>
            <a:srgbClr val="E0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32053616" name="TextBox 7"/>
          <p:cNvSpPr txBox="1"/>
          <p:nvPr/>
        </p:nvSpPr>
        <p:spPr bwMode="auto">
          <a:xfrm>
            <a:off x="594360" y="2788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1" i="0">
                <a:solidFill>
                  <a:srgbClr val="E06C0A"/>
                </a:solidFill>
              </a:rPr>
              <a:t>Cenário B (+7,4%)</a:t>
            </a:r>
            <a:endParaRPr/>
          </a:p>
        </p:txBody>
      </p:sp>
      <p:sp>
        <p:nvSpPr>
          <p:cNvPr id="1633526316" name="TextBox 8"/>
          <p:cNvSpPr txBox="1"/>
          <p:nvPr/>
        </p:nvSpPr>
        <p:spPr bwMode="auto">
          <a:xfrm>
            <a:off x="594360" y="32278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Maior viés: perda intermediária amplifica efeitos de segunda ordem como correlação de perdas, comportamento real de ACKs e distribuição empírica do atraso.</a:t>
            </a:r>
            <a:endParaRPr/>
          </a:p>
        </p:txBody>
      </p:sp>
      <p:sp>
        <p:nvSpPr>
          <p:cNvPr id="1260383754" name="Rectangle 9"/>
          <p:cNvSpPr/>
          <p:nvPr/>
        </p:nvSpPr>
        <p:spPr bwMode="auto">
          <a:xfrm>
            <a:off x="365760" y="4480560"/>
            <a:ext cx="109728" cy="128016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85739906" name="TextBox 10"/>
          <p:cNvSpPr txBox="1"/>
          <p:nvPr/>
        </p:nvSpPr>
        <p:spPr bwMode="auto">
          <a:xfrm>
            <a:off x="594360" y="44805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1" i="0">
                <a:solidFill>
                  <a:srgbClr val="1A6BB0"/>
                </a:solidFill>
              </a:rPr>
              <a:t>Cenário C (+2,9%)</a:t>
            </a:r>
            <a:endParaRPr/>
          </a:p>
        </p:txBody>
      </p:sp>
      <p:sp>
        <p:nvSpPr>
          <p:cNvPr id="996078328" name="TextBox 11"/>
          <p:cNvSpPr txBox="1"/>
          <p:nvPr/>
        </p:nvSpPr>
        <p:spPr bwMode="auto">
          <a:xfrm>
            <a:off x="594360" y="4919471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Perda severa → cascatas de timeout dominam o comportamento tanto no modelo quanto no sistema real → menor influência dos efeitos de segunda ordem.</a:t>
            </a:r>
            <a:endParaRPr/>
          </a:p>
        </p:txBody>
      </p:sp>
      <p:sp>
        <p:nvSpPr>
          <p:cNvPr id="1048885832" name="TextBox 12"/>
          <p:cNvSpPr txBox="1"/>
          <p:nvPr/>
        </p:nvSpPr>
        <p:spPr bwMode="auto">
          <a:xfrm>
            <a:off x="365760" y="617220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1">
                <a:solidFill>
                  <a:srgbClr val="102A4A"/>
                </a:solidFill>
              </a:rPr>
              <a:t>Conclusão parcial: o modelo é parcimonioso e sem ajuste — os erros são informativos, não aleatórios.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2A4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564110" name="Rectangle 1"/>
          <p:cNvSpPr/>
          <p:nvPr/>
        </p:nvSpPr>
        <p:spPr bwMode="auto">
          <a:xfrm>
            <a:off x="0" y="0"/>
            <a:ext cx="109728" cy="685800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53828961" name="TextBox 2"/>
          <p:cNvSpPr txBox="1"/>
          <p:nvPr/>
        </p:nvSpPr>
        <p:spPr bwMode="auto">
          <a:xfrm>
            <a:off x="320040" y="2011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4600" b="1" i="0">
                <a:solidFill>
                  <a:srgbClr val="FFFFFF"/>
                </a:solidFill>
              </a:rPr>
              <a:t>5. As 10 Tarefas de Validação</a:t>
            </a:r>
            <a:endParaRPr/>
          </a:p>
        </p:txBody>
      </p:sp>
      <p:sp>
        <p:nvSpPr>
          <p:cNvPr id="1416804151" name="TextBox 3"/>
          <p:cNvSpPr txBox="1"/>
          <p:nvPr/>
        </p:nvSpPr>
        <p:spPr bwMode="auto">
          <a:xfrm>
            <a:off x="320040" y="3566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200" b="0" i="0">
                <a:solidFill>
                  <a:srgbClr val="5BB4F5"/>
                </a:solidFill>
              </a:rPr>
              <a:t>Cada tarefa confrontada com um limite analítico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011801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7091605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Mapa das 10 Tarefas</a:t>
            </a:r>
            <a:endParaRPr/>
          </a:p>
        </p:txBody>
      </p:sp>
      <p:sp>
        <p:nvSpPr>
          <p:cNvPr id="1156284732" name="Rectangle 3"/>
          <p:cNvSpPr/>
          <p:nvPr/>
        </p:nvSpPr>
        <p:spPr bwMode="auto">
          <a:xfrm>
            <a:off x="365760" y="1051560"/>
            <a:ext cx="731520" cy="68580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8317256" name="TextBox 4"/>
          <p:cNvSpPr txBox="1"/>
          <p:nvPr/>
        </p:nvSpPr>
        <p:spPr bwMode="auto">
          <a:xfrm>
            <a:off x="365760" y="1124712"/>
            <a:ext cx="731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D1</a:t>
            </a:r>
            <a:endParaRPr/>
          </a:p>
        </p:txBody>
      </p:sp>
      <p:sp>
        <p:nvSpPr>
          <p:cNvPr id="1011922916" name="TextBox 5"/>
          <p:cNvSpPr txBox="1"/>
          <p:nvPr/>
        </p:nvSpPr>
        <p:spPr bwMode="auto">
          <a:xfrm>
            <a:off x="1170432" y="10515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102A4A"/>
                </a:solidFill>
              </a:rPr>
              <a:t>Modelagem de atraso Normal</a:t>
            </a:r>
            <a:endParaRPr/>
          </a:p>
        </p:txBody>
      </p:sp>
      <p:sp>
        <p:nvSpPr>
          <p:cNvPr id="1937925109" name="TextBox 6"/>
          <p:cNvSpPr txBox="1"/>
          <p:nvPr/>
        </p:nvSpPr>
        <p:spPr bwMode="auto">
          <a:xfrm>
            <a:off x="1170432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1">
                <a:solidFill>
                  <a:srgbClr val="444444"/>
                </a:solidFill>
              </a:rPr>
              <a:t>canal + calibração</a:t>
            </a:r>
            <a:endParaRPr/>
          </a:p>
        </p:txBody>
      </p:sp>
      <p:sp>
        <p:nvSpPr>
          <p:cNvPr id="611315615" name="Rectangle 7"/>
          <p:cNvSpPr/>
          <p:nvPr/>
        </p:nvSpPr>
        <p:spPr bwMode="auto">
          <a:xfrm>
            <a:off x="6217920" y="1051560"/>
            <a:ext cx="731520" cy="6858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94532917" name="TextBox 8"/>
          <p:cNvSpPr txBox="1"/>
          <p:nvPr/>
        </p:nvSpPr>
        <p:spPr bwMode="auto">
          <a:xfrm>
            <a:off x="6217920" y="1124712"/>
            <a:ext cx="731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D2</a:t>
            </a:r>
            <a:endParaRPr/>
          </a:p>
        </p:txBody>
      </p:sp>
      <p:sp>
        <p:nvSpPr>
          <p:cNvPr id="672893777" name="TextBox 9"/>
          <p:cNvSpPr txBox="1"/>
          <p:nvPr/>
        </p:nvSpPr>
        <p:spPr bwMode="auto">
          <a:xfrm>
            <a:off x="7022592" y="10515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102A4A"/>
                </a:solidFill>
              </a:rPr>
              <a:t>Perda Bernoulli vs. tc/netem</a:t>
            </a:r>
            <a:endParaRPr/>
          </a:p>
        </p:txBody>
      </p:sp>
      <p:sp>
        <p:nvSpPr>
          <p:cNvPr id="688849220" name="TextBox 10"/>
          <p:cNvSpPr txBox="1"/>
          <p:nvPr/>
        </p:nvSpPr>
        <p:spPr bwMode="auto">
          <a:xfrm>
            <a:off x="7022592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1">
                <a:solidFill>
                  <a:srgbClr val="444444"/>
                </a:solidFill>
              </a:rPr>
              <a:t>canal + calibração</a:t>
            </a:r>
            <a:endParaRPr/>
          </a:p>
        </p:txBody>
      </p:sp>
      <p:sp>
        <p:nvSpPr>
          <p:cNvPr id="200051439" name="Rectangle 11"/>
          <p:cNvSpPr/>
          <p:nvPr/>
        </p:nvSpPr>
        <p:spPr bwMode="auto">
          <a:xfrm>
            <a:off x="365760" y="2103120"/>
            <a:ext cx="731520" cy="68580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5653807" name="TextBox 12"/>
          <p:cNvSpPr txBox="1"/>
          <p:nvPr/>
        </p:nvSpPr>
        <p:spPr bwMode="auto">
          <a:xfrm>
            <a:off x="365760" y="2176272"/>
            <a:ext cx="731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D3</a:t>
            </a:r>
            <a:endParaRPr/>
          </a:p>
        </p:txBody>
      </p:sp>
      <p:sp>
        <p:nvSpPr>
          <p:cNvPr id="1636990274" name="TextBox 13"/>
          <p:cNvSpPr txBox="1"/>
          <p:nvPr/>
        </p:nvSpPr>
        <p:spPr bwMode="auto">
          <a:xfrm>
            <a:off x="1170432" y="2103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102A4A"/>
                </a:solidFill>
              </a:rPr>
              <a:t>Simulação de timeout e retransmissão</a:t>
            </a:r>
            <a:endParaRPr/>
          </a:p>
        </p:txBody>
      </p:sp>
      <p:sp>
        <p:nvSpPr>
          <p:cNvPr id="118032061" name="TextBox 14"/>
          <p:cNvSpPr txBox="1"/>
          <p:nvPr/>
        </p:nvSpPr>
        <p:spPr bwMode="auto">
          <a:xfrm>
            <a:off x="1170432" y="2532887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1">
                <a:solidFill>
                  <a:srgbClr val="444444"/>
                </a:solidFill>
              </a:rPr>
              <a:t>motor + calibração</a:t>
            </a:r>
            <a:endParaRPr/>
          </a:p>
        </p:txBody>
      </p:sp>
      <p:sp>
        <p:nvSpPr>
          <p:cNvPr id="231730733" name="Rectangle 15"/>
          <p:cNvSpPr/>
          <p:nvPr/>
        </p:nvSpPr>
        <p:spPr bwMode="auto">
          <a:xfrm>
            <a:off x="6217920" y="2103120"/>
            <a:ext cx="731520" cy="6858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7164232" name="TextBox 16"/>
          <p:cNvSpPr txBox="1"/>
          <p:nvPr/>
        </p:nvSpPr>
        <p:spPr bwMode="auto">
          <a:xfrm>
            <a:off x="6217920" y="2176272"/>
            <a:ext cx="731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D4</a:t>
            </a:r>
            <a:endParaRPr/>
          </a:p>
        </p:txBody>
      </p:sp>
      <p:sp>
        <p:nvSpPr>
          <p:cNvPr id="69680716" name="TextBox 17"/>
          <p:cNvSpPr txBox="1"/>
          <p:nvPr/>
        </p:nvSpPr>
        <p:spPr bwMode="auto">
          <a:xfrm>
            <a:off x="7022592" y="2103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102A4A"/>
                </a:solidFill>
              </a:rPr>
              <a:t>Curva de vazão 1–100 MB</a:t>
            </a:r>
            <a:endParaRPr/>
          </a:p>
        </p:txBody>
      </p:sp>
      <p:sp>
        <p:nvSpPr>
          <p:cNvPr id="1450006745" name="TextBox 18"/>
          <p:cNvSpPr txBox="1"/>
          <p:nvPr/>
        </p:nvSpPr>
        <p:spPr bwMode="auto">
          <a:xfrm>
            <a:off x="7022592" y="2532887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1">
                <a:solidFill>
                  <a:srgbClr val="444444"/>
                </a:solidFill>
              </a:rPr>
              <a:t>→ slide seguinte</a:t>
            </a:r>
            <a:endParaRPr/>
          </a:p>
        </p:txBody>
      </p:sp>
      <p:sp>
        <p:nvSpPr>
          <p:cNvPr id="30123950" name="Rectangle 19"/>
          <p:cNvSpPr/>
          <p:nvPr/>
        </p:nvSpPr>
        <p:spPr bwMode="auto">
          <a:xfrm>
            <a:off x="365760" y="3154679"/>
            <a:ext cx="731520" cy="68580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7939692" name="TextBox 20"/>
          <p:cNvSpPr txBox="1"/>
          <p:nvPr/>
        </p:nvSpPr>
        <p:spPr bwMode="auto">
          <a:xfrm>
            <a:off x="365760" y="3227832"/>
            <a:ext cx="731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D5</a:t>
            </a:r>
            <a:endParaRPr/>
          </a:p>
        </p:txBody>
      </p:sp>
      <p:sp>
        <p:nvSpPr>
          <p:cNvPr id="1973239298" name="TextBox 21"/>
          <p:cNvSpPr txBox="1"/>
          <p:nvPr/>
        </p:nvSpPr>
        <p:spPr bwMode="auto">
          <a:xfrm>
            <a:off x="1170432" y="3154679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102A4A"/>
                </a:solidFill>
              </a:rPr>
              <a:t>Sensibilidade ao tamanho da janela N</a:t>
            </a:r>
            <a:endParaRPr/>
          </a:p>
        </p:txBody>
      </p:sp>
      <p:sp>
        <p:nvSpPr>
          <p:cNvPr id="405961862" name="TextBox 22"/>
          <p:cNvSpPr txBox="1"/>
          <p:nvPr/>
        </p:nvSpPr>
        <p:spPr bwMode="auto">
          <a:xfrm>
            <a:off x="1170432" y="358444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1">
                <a:solidFill>
                  <a:srgbClr val="444444"/>
                </a:solidFill>
              </a:rPr>
              <a:t>→ slide seguinte</a:t>
            </a:r>
            <a:endParaRPr/>
          </a:p>
        </p:txBody>
      </p:sp>
      <p:sp>
        <p:nvSpPr>
          <p:cNvPr id="1340038260" name="Rectangle 23"/>
          <p:cNvSpPr/>
          <p:nvPr/>
        </p:nvSpPr>
        <p:spPr bwMode="auto">
          <a:xfrm>
            <a:off x="6217920" y="3154679"/>
            <a:ext cx="731520" cy="6858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87962539" name="TextBox 24"/>
          <p:cNvSpPr txBox="1"/>
          <p:nvPr/>
        </p:nvSpPr>
        <p:spPr bwMode="auto">
          <a:xfrm>
            <a:off x="6217920" y="3227832"/>
            <a:ext cx="731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D6</a:t>
            </a:r>
            <a:endParaRPr/>
          </a:p>
        </p:txBody>
      </p:sp>
      <p:sp>
        <p:nvSpPr>
          <p:cNvPr id="1768418179" name="TextBox 25"/>
          <p:cNvSpPr txBox="1"/>
          <p:nvPr/>
        </p:nvSpPr>
        <p:spPr bwMode="auto">
          <a:xfrm>
            <a:off x="7022592" y="3154679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102A4A"/>
                </a:solidFill>
              </a:rPr>
              <a:t>Validação de RTT</a:t>
            </a:r>
            <a:endParaRPr/>
          </a:p>
        </p:txBody>
      </p:sp>
      <p:sp>
        <p:nvSpPr>
          <p:cNvPr id="295637801" name="TextBox 26"/>
          <p:cNvSpPr txBox="1"/>
          <p:nvPr/>
        </p:nvSpPr>
        <p:spPr bwMode="auto">
          <a:xfrm>
            <a:off x="7022592" y="358444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1">
                <a:solidFill>
                  <a:srgbClr val="444444"/>
                </a:solidFill>
              </a:rPr>
              <a:t>mapeamento + calibração</a:t>
            </a:r>
            <a:endParaRPr/>
          </a:p>
        </p:txBody>
      </p:sp>
      <p:sp>
        <p:nvSpPr>
          <p:cNvPr id="756940979" name="Rectangle 27"/>
          <p:cNvSpPr/>
          <p:nvPr/>
        </p:nvSpPr>
        <p:spPr bwMode="auto">
          <a:xfrm>
            <a:off x="365760" y="4206240"/>
            <a:ext cx="731520" cy="68580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00017624" name="TextBox 28"/>
          <p:cNvSpPr txBox="1"/>
          <p:nvPr/>
        </p:nvSpPr>
        <p:spPr bwMode="auto">
          <a:xfrm>
            <a:off x="365760" y="4279392"/>
            <a:ext cx="731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D7</a:t>
            </a:r>
            <a:endParaRPr/>
          </a:p>
        </p:txBody>
      </p:sp>
      <p:sp>
        <p:nvSpPr>
          <p:cNvPr id="1349337385" name="TextBox 29"/>
          <p:cNvSpPr txBox="1"/>
          <p:nvPr/>
        </p:nvSpPr>
        <p:spPr bwMode="auto">
          <a:xfrm>
            <a:off x="1170432" y="420624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102A4A"/>
                </a:solidFill>
              </a:rPr>
              <a:t>Impacto do jitter</a:t>
            </a:r>
            <a:endParaRPr/>
          </a:p>
        </p:txBody>
      </p:sp>
      <p:sp>
        <p:nvSpPr>
          <p:cNvPr id="120926525" name="TextBox 30"/>
          <p:cNvSpPr txBox="1"/>
          <p:nvPr/>
        </p:nvSpPr>
        <p:spPr bwMode="auto">
          <a:xfrm>
            <a:off x="1170432" y="4636007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1">
                <a:solidFill>
                  <a:srgbClr val="444444"/>
                </a:solidFill>
              </a:rPr>
              <a:t>→ slide seguinte</a:t>
            </a:r>
            <a:endParaRPr/>
          </a:p>
        </p:txBody>
      </p:sp>
      <p:sp>
        <p:nvSpPr>
          <p:cNvPr id="1397021038" name="Rectangle 31"/>
          <p:cNvSpPr/>
          <p:nvPr/>
        </p:nvSpPr>
        <p:spPr bwMode="auto">
          <a:xfrm>
            <a:off x="6217920" y="4206240"/>
            <a:ext cx="731520" cy="6858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28821587" name="TextBox 32"/>
          <p:cNvSpPr txBox="1"/>
          <p:nvPr/>
        </p:nvSpPr>
        <p:spPr bwMode="auto">
          <a:xfrm>
            <a:off x="6217920" y="4279392"/>
            <a:ext cx="731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D8</a:t>
            </a:r>
            <a:endParaRPr/>
          </a:p>
        </p:txBody>
      </p:sp>
      <p:sp>
        <p:nvSpPr>
          <p:cNvPr id="1717982721" name="TextBox 33"/>
          <p:cNvSpPr txBox="1"/>
          <p:nvPr/>
        </p:nvSpPr>
        <p:spPr bwMode="auto">
          <a:xfrm>
            <a:off x="7022592" y="420624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102A4A"/>
                </a:solidFill>
              </a:rPr>
              <a:t>Estresse com 25% de perda bruta</a:t>
            </a:r>
            <a:endParaRPr/>
          </a:p>
        </p:txBody>
      </p:sp>
      <p:sp>
        <p:nvSpPr>
          <p:cNvPr id="576687024" name="TextBox 34"/>
          <p:cNvSpPr txBox="1"/>
          <p:nvPr/>
        </p:nvSpPr>
        <p:spPr bwMode="auto">
          <a:xfrm>
            <a:off x="7022592" y="4636007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1">
                <a:solidFill>
                  <a:srgbClr val="444444"/>
                </a:solidFill>
              </a:rPr>
              <a:t>→ slide seguinte</a:t>
            </a:r>
            <a:endParaRPr/>
          </a:p>
        </p:txBody>
      </p:sp>
      <p:sp>
        <p:nvSpPr>
          <p:cNvPr id="222487637" name="Rectangle 35"/>
          <p:cNvSpPr/>
          <p:nvPr/>
        </p:nvSpPr>
        <p:spPr bwMode="auto">
          <a:xfrm>
            <a:off x="365760" y="5257800"/>
            <a:ext cx="731520" cy="68580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96781097" name="TextBox 36"/>
          <p:cNvSpPr txBox="1"/>
          <p:nvPr/>
        </p:nvSpPr>
        <p:spPr bwMode="auto">
          <a:xfrm>
            <a:off x="365760" y="5330952"/>
            <a:ext cx="731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D9</a:t>
            </a:r>
            <a:endParaRPr/>
          </a:p>
        </p:txBody>
      </p:sp>
      <p:sp>
        <p:nvSpPr>
          <p:cNvPr id="970301227" name="TextBox 37"/>
          <p:cNvSpPr txBox="1"/>
          <p:nvPr/>
        </p:nvSpPr>
        <p:spPr bwMode="auto">
          <a:xfrm>
            <a:off x="1170432" y="52578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102A4A"/>
                </a:solidFill>
              </a:rPr>
              <a:t>Eficiência DADOS/ACK</a:t>
            </a:r>
            <a:endParaRPr/>
          </a:p>
        </p:txBody>
      </p:sp>
      <p:sp>
        <p:nvSpPr>
          <p:cNvPr id="875601778" name="TextBox 38"/>
          <p:cNvSpPr txBox="1"/>
          <p:nvPr/>
        </p:nvSpPr>
        <p:spPr bwMode="auto">
          <a:xfrm>
            <a:off x="1170432" y="56875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1">
                <a:solidFill>
                  <a:srgbClr val="444444"/>
                </a:solidFill>
              </a:rPr>
              <a:t>→ slide seguinte</a:t>
            </a:r>
            <a:endParaRPr/>
          </a:p>
        </p:txBody>
      </p:sp>
      <p:sp>
        <p:nvSpPr>
          <p:cNvPr id="337702513" name="Rectangle 39"/>
          <p:cNvSpPr/>
          <p:nvPr/>
        </p:nvSpPr>
        <p:spPr bwMode="auto">
          <a:xfrm>
            <a:off x="6217920" y="5257800"/>
            <a:ext cx="731520" cy="6858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8355930" name="TextBox 40"/>
          <p:cNvSpPr txBox="1"/>
          <p:nvPr/>
        </p:nvSpPr>
        <p:spPr bwMode="auto">
          <a:xfrm>
            <a:off x="6217920" y="5330952"/>
            <a:ext cx="731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D10</a:t>
            </a:r>
            <a:endParaRPr/>
          </a:p>
        </p:txBody>
      </p:sp>
      <p:sp>
        <p:nvSpPr>
          <p:cNvPr id="643871234" name="TextBox 41"/>
          <p:cNvSpPr txBox="1"/>
          <p:nvPr/>
        </p:nvSpPr>
        <p:spPr bwMode="auto">
          <a:xfrm>
            <a:off x="7022592" y="52578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102A4A"/>
                </a:solidFill>
              </a:rPr>
              <a:t>Convergência estatística IC 95%</a:t>
            </a:r>
            <a:endParaRPr/>
          </a:p>
        </p:txBody>
      </p:sp>
      <p:sp>
        <p:nvSpPr>
          <p:cNvPr id="293852897" name="TextBox 42"/>
          <p:cNvSpPr txBox="1"/>
          <p:nvPr/>
        </p:nvSpPr>
        <p:spPr bwMode="auto">
          <a:xfrm>
            <a:off x="7022592" y="56875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1">
                <a:solidFill>
                  <a:srgbClr val="444444"/>
                </a:solidFill>
              </a:rPr>
              <a:t>→ slide anterior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08064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165959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D1 + D2 + D3: Canal, Perda e Timeout (Calibração)</a:t>
            </a:r>
            <a:endParaRPr/>
          </a:p>
        </p:txBody>
      </p:sp>
      <p:sp>
        <p:nvSpPr>
          <p:cNvPr id="366433298" name="TextBox 3"/>
          <p:cNvSpPr txBox="1"/>
          <p:nvPr/>
        </p:nvSpPr>
        <p:spPr bwMode="auto">
          <a:xfrm>
            <a:off x="365760" y="1051560"/>
            <a:ext cx="11430720" cy="95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D1 — Atraso Normal: RTT simulado = 2μ configurado em todos os cenários (verificado por testes unitários)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D2 — Perda Bernoulli: taxa empírica do canal ≈ pef; pef confirmada contra medições reais de fragmentação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D3 — Timeout/retransmissão: sem perda → 0 retransmissões ✓; com perda → contagens próximas das medições reais</a:t>
            </a:r>
            <a:endParaRPr/>
          </a:p>
        </p:txBody>
      </p:sp>
      <p:sp>
        <p:nvSpPr>
          <p:cNvPr id="1435545131" name="Rectangle 4"/>
          <p:cNvSpPr/>
          <p:nvPr/>
        </p:nvSpPr>
        <p:spPr bwMode="auto">
          <a:xfrm>
            <a:off x="365760" y="4206240"/>
            <a:ext cx="11430000" cy="91440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58678675" name="TextBox 5"/>
          <p:cNvSpPr txBox="1"/>
          <p:nvPr/>
        </p:nvSpPr>
        <p:spPr bwMode="auto">
          <a:xfrm>
            <a:off x="502920" y="425196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0" i="0">
                <a:solidFill>
                  <a:srgbClr val="FFFFFF"/>
                </a:solidFill>
              </a:rPr>
              <a:t>Essas três tarefas são implicitamente validadas pela calibração: erro 1–7% em faixa de 200× só é possível se atraso, perda e timeout estiverem corretos.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7299928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76934891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D4: Curva de Vazão — 1 a 100 MB</a:t>
            </a:r>
            <a:endParaRPr/>
          </a:p>
        </p:txBody>
      </p:sp>
      <p:pic>
        <p:nvPicPr>
          <p:cNvPr id="644086927" name="Picture 3" descr="fase2_vazao_tamanho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65760" y="1005840"/>
            <a:ext cx="7132320" cy="5094514"/>
          </a:xfrm>
          <a:prstGeom prst="rect">
            <a:avLst/>
          </a:prstGeom>
        </p:spPr>
      </p:pic>
      <p:sp>
        <p:nvSpPr>
          <p:cNvPr id="168879425" name="TextBox 4"/>
          <p:cNvSpPr txBox="1"/>
          <p:nvPr/>
        </p:nvSpPr>
        <p:spPr bwMode="auto">
          <a:xfrm>
            <a:off x="7680960" y="105156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800" b="1">
                <a:solidFill>
                  <a:srgbClr val="102A4A"/>
                </a:solidFill>
              </a:rPr>
              <a:t>Interpretação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500">
                <a:solidFill>
                  <a:srgbClr val="444444"/>
                </a:solidFill>
              </a:rPr>
              <a:t>▸ Teto teórico: S_max = N·L/RTT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500">
                <a:solidFill>
                  <a:srgbClr val="444444"/>
                </a:solidFill>
              </a:rPr>
              <a:t>▸ Cenário A: satura em ≈97% do teto de 1 600 KB/s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500">
                <a:solidFill>
                  <a:srgbClr val="444444"/>
                </a:solidFill>
              </a:rPr>
              <a:t>▸ Real: 1 515 KB/s — compatível ✓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500">
                <a:solidFill>
                  <a:srgbClr val="444444"/>
                </a:solidFill>
              </a:rPr>
              <a:t>▸ Cenário B: perda domina → estabiliza em ≈19 KB/s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500">
                <a:solidFill>
                  <a:srgbClr val="444444"/>
                </a:solidFill>
              </a:rPr>
              <a:t>▸ Teto nominal B = 320 KB/s, mas GBN desperdiça janelas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500">
                <a:solidFill>
                  <a:srgbClr val="444444"/>
                </a:solidFill>
              </a:rPr>
              <a:t>▸ Curva sobe com o arquivo: custo fixo diluído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6981753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20315562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D5: Sensibilidade ao Tamanho da Janela N</a:t>
            </a:r>
            <a:endParaRPr/>
          </a:p>
        </p:txBody>
      </p:sp>
      <p:pic>
        <p:nvPicPr>
          <p:cNvPr id="1344297870" name="Picture 3" descr="fase2_janela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65760" y="1005840"/>
            <a:ext cx="7132320" cy="5094514"/>
          </a:xfrm>
          <a:prstGeom prst="rect">
            <a:avLst/>
          </a:prstGeom>
        </p:spPr>
      </p:pic>
      <p:sp>
        <p:nvSpPr>
          <p:cNvPr id="1716063406" name="TextBox 4"/>
          <p:cNvSpPr txBox="1"/>
          <p:nvPr/>
        </p:nvSpPr>
        <p:spPr bwMode="auto">
          <a:xfrm>
            <a:off x="7680960" y="105156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800" b="1">
                <a:solidFill>
                  <a:srgbClr val="102A4A"/>
                </a:solidFill>
              </a:rPr>
              <a:t>Produto Banda-Atraso (BDP)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500">
                <a:solidFill>
                  <a:srgbClr val="444444"/>
                </a:solidFill>
              </a:rPr>
              <a:t>▸ Gargalo explícito: B = 2 000 KB/s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500">
                <a:solidFill>
                  <a:srgbClr val="444444"/>
                </a:solidFill>
              </a:rPr>
              <a:t>▸ BDP = B·RTT = 2000×0,02 = 40 KB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500">
                <a:solidFill>
                  <a:srgbClr val="444444"/>
                </a:solidFill>
              </a:rPr>
              <a:t>▸ N* = BDP/L = 40 KB / 4 KB = 10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500">
                <a:solidFill>
                  <a:srgbClr val="444444"/>
                </a:solidFill>
              </a:rPr>
              <a:t>▸ Joelho medido: N = 12 (95% de S_max)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500">
                <a:solidFill>
                  <a:srgbClr val="444444"/>
                </a:solidFill>
              </a:rPr>
              <a:t>▸ Compatível com a previsão analítica ✓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500">
                <a:solidFill>
                  <a:srgbClr val="444444"/>
                </a:solidFill>
              </a:rPr>
              <a:t>▸ Acima de N* → saturação na banda do enlace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500">
                <a:solidFill>
                  <a:srgbClr val="444444"/>
                </a:solidFill>
              </a:rPr>
              <a:t>▸ Abaixo de N* → crescimento quase linear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1578110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73527135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D6: Validação de RTT</a:t>
            </a:r>
            <a:endParaRPr/>
          </a:p>
        </p:txBody>
      </p:sp>
      <p:sp>
        <p:nvSpPr>
          <p:cNvPr id="428329144" name="TextBox 3"/>
          <p:cNvSpPr txBox="1"/>
          <p:nvPr/>
        </p:nvSpPr>
        <p:spPr bwMode="auto">
          <a:xfrm>
            <a:off x="365760" y="1097280"/>
            <a:ext cx="11430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800" b="1">
                <a:solidFill>
                  <a:srgbClr val="102A4A"/>
                </a:solidFill>
              </a:rPr>
              <a:t>RTT no modelo = RTT medido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Parâmetro RTT configurado diretamente como 2μ nos três cenários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Medições reais por tcpdump: 20 ms (A), 100 ms (B), 200 ms (C)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Simulador usa os mesmos valores → validação por construção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Testes unitários verificam que a média dos atrasos amostrados ≈ μ configurado</a:t>
            </a:r>
            <a:endParaRPr/>
          </a:p>
        </p:txBody>
      </p:sp>
      <p:sp>
        <p:nvSpPr>
          <p:cNvPr id="1977387663" name="Rectangle 4"/>
          <p:cNvSpPr/>
          <p:nvPr/>
        </p:nvSpPr>
        <p:spPr bwMode="auto">
          <a:xfrm>
            <a:off x="365760" y="4114800"/>
            <a:ext cx="11430000" cy="2286000"/>
          </a:xfrm>
          <a:prstGeom prst="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21442309" name="TextBox 5"/>
          <p:cNvSpPr txBox="1"/>
          <p:nvPr/>
        </p:nvSpPr>
        <p:spPr bwMode="auto">
          <a:xfrm>
            <a:off x="502920" y="4160519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1" i="0">
                <a:solidFill>
                  <a:srgbClr val="102A4A"/>
                </a:solidFill>
              </a:rPr>
              <a:t>Qual a importância do RTT para o GBN?</a:t>
            </a:r>
            <a:endParaRPr/>
          </a:p>
        </p:txBody>
      </p:sp>
      <p:sp>
        <p:nvSpPr>
          <p:cNvPr id="133057990" name="TextBox 6"/>
          <p:cNvSpPr txBox="1"/>
          <p:nvPr/>
        </p:nvSpPr>
        <p:spPr bwMode="auto">
          <a:xfrm>
            <a:off x="502920" y="4617720"/>
            <a:ext cx="111556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O RTT é o denominador do teto de vazão: S_max = N·L/RTT.</a:t>
            </a:r>
            <a:br>
              <a:rPr sz="1500" b="0" i="0">
                <a:solidFill>
                  <a:srgbClr val="444444"/>
                </a:solidFill>
              </a:rPr>
            </a:br>
            <a:r>
              <a:rPr sz="1500" b="0" i="0">
                <a:solidFill>
                  <a:srgbClr val="444444"/>
                </a:solidFill>
              </a:rPr>
              <a:t>Um RTT errado em 10% causa erro de 10% na previsão de vazão.</a:t>
            </a:r>
            <a:br>
              <a:rPr sz="1500" b="0" i="0">
                <a:solidFill>
                  <a:srgbClr val="444444"/>
                </a:solidFill>
              </a:rPr>
            </a:br>
            <a:r>
              <a:rPr sz="1500" b="0" i="0">
                <a:solidFill>
                  <a:srgbClr val="444444"/>
                </a:solidFill>
              </a:rPr>
              <a:t>Por isso o mapeamento direto (sem ajuste) é fundamental.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2979250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70845555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D7: Impacto do Jitter na Transferência</a:t>
            </a:r>
            <a:endParaRPr/>
          </a:p>
        </p:txBody>
      </p:sp>
      <p:pic>
        <p:nvPicPr>
          <p:cNvPr id="1393991693" name="Picture 3" descr="fase2_jitter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65760" y="1005840"/>
            <a:ext cx="7132320" cy="5094514"/>
          </a:xfrm>
          <a:prstGeom prst="rect">
            <a:avLst/>
          </a:prstGeom>
        </p:spPr>
      </p:pic>
      <p:sp>
        <p:nvSpPr>
          <p:cNvPr id="2122259495" name="TextBox 4"/>
          <p:cNvSpPr txBox="1"/>
          <p:nvPr/>
        </p:nvSpPr>
        <p:spPr bwMode="auto">
          <a:xfrm>
            <a:off x="7680960" y="1051560"/>
            <a:ext cx="4389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800" b="1">
                <a:solidFill>
                  <a:srgbClr val="102A4A"/>
                </a:solidFill>
              </a:rPr>
              <a:t>Resultado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σ variado de 1 a 80 ms; sem perdas; RTT = 100 ms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Dispersão: de 0,002 s (σ=1) a 0,19 s (σ=80)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Média também cresce: 0,81 s → 1,96 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Por quê a média sobe?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→ Ordem preservada no enlace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→ Fim de rodada ≡ maior atraso da janela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→ E[max] cresce com σ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Jitter eleva tanto variância quanto tendência central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836458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3211120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D8: Cenário de Estresse — 25% de Perda Bruta</a:t>
            </a:r>
            <a:endParaRPr/>
          </a:p>
        </p:txBody>
      </p:sp>
      <p:pic>
        <p:nvPicPr>
          <p:cNvPr id="1199145708" name="Picture 3" descr="fase2_estress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65760" y="1005840"/>
            <a:ext cx="7132320" cy="5094514"/>
          </a:xfrm>
          <a:prstGeom prst="rect">
            <a:avLst/>
          </a:prstGeom>
        </p:spPr>
      </p:pic>
      <p:sp>
        <p:nvSpPr>
          <p:cNvPr id="486340641" name="TextBox 4"/>
          <p:cNvSpPr txBox="1"/>
          <p:nvPr/>
        </p:nvSpPr>
        <p:spPr bwMode="auto">
          <a:xfrm>
            <a:off x="7680960" y="10515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800" b="1">
                <a:solidFill>
                  <a:srgbClr val="102A4A"/>
                </a:solidFill>
              </a:rPr>
              <a:t>Extrapolação validada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p_bruta = 25%  →  p_ef = 1−(0,75)³ = 57,8%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Atraso = 100 ms (igual ao cenário C)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Ancoragem: cenário C (20%) → 146 s vs. 144,6 s real ✓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Previsão para 25%: ≈ 213 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IC 95%: [207 ; 218] 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Aumento de ≈47% em relação ao cenário C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Tendência monotônica mantida ✓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7808087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1436692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D9: Eficiência DADOS/ACK pela Lei 1/(1−p_ef)</a:t>
            </a:r>
            <a:endParaRPr/>
          </a:p>
        </p:txBody>
      </p:sp>
      <p:pic>
        <p:nvPicPr>
          <p:cNvPr id="1702533622" name="Picture 3" descr="fase2_eficiencia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65760" y="1005840"/>
            <a:ext cx="7132320" cy="5094514"/>
          </a:xfrm>
          <a:prstGeom prst="rect">
            <a:avLst/>
          </a:prstGeom>
        </p:spPr>
      </p:pic>
      <p:sp>
        <p:nvSpPr>
          <p:cNvPr id="1500065804" name="TextBox 4"/>
          <p:cNvSpPr txBox="1"/>
          <p:nvPr/>
        </p:nvSpPr>
        <p:spPr bwMode="auto">
          <a:xfrm>
            <a:off x="7680960" y="1051560"/>
            <a:ext cx="4389480" cy="1897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800" b="1">
                <a:solidFill>
                  <a:srgbClr val="102A4A"/>
                </a:solidFill>
              </a:rPr>
              <a:t>Resultados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Lei analítica: DADOS/ACK = 1/(1−pef)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Cen. A: simulado 1,00 vs. analítico 1,000 ✓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Cen. B: simulado 1,38 vs. analítico 1,372 ✓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Cen. C: simulado 1,96 vs. analítico 1,953 ✓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Degradação monotônica com a perda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400">
                <a:solidFill>
                  <a:srgbClr val="444444"/>
                </a:solidFill>
              </a:rPr>
              <a:t>▸ Validação interna do motor instrumentado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8946081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22345390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Panorama: As 10 Tarefas</a:t>
            </a:r>
            <a:endParaRPr/>
          </a:p>
        </p:txBody>
      </p:sp>
      <p:sp>
        <p:nvSpPr>
          <p:cNvPr id="20889235" name="Rectangle 3"/>
          <p:cNvSpPr/>
          <p:nvPr/>
        </p:nvSpPr>
        <p:spPr bwMode="auto">
          <a:xfrm>
            <a:off x="365760" y="1024128"/>
            <a:ext cx="685800" cy="685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0062857" name="TextBox 4"/>
          <p:cNvSpPr txBox="1"/>
          <p:nvPr/>
        </p:nvSpPr>
        <p:spPr bwMode="auto">
          <a:xfrm>
            <a:off x="365760" y="1115568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D1</a:t>
            </a:r>
            <a:endParaRPr/>
          </a:p>
        </p:txBody>
      </p:sp>
      <p:sp>
        <p:nvSpPr>
          <p:cNvPr id="493846696" name="TextBox 5"/>
          <p:cNvSpPr txBox="1"/>
          <p:nvPr/>
        </p:nvSpPr>
        <p:spPr bwMode="auto">
          <a:xfrm>
            <a:off x="1124712" y="1024128"/>
            <a:ext cx="4206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1" i="0">
                <a:solidFill>
                  <a:srgbClr val="102A4A"/>
                </a:solidFill>
              </a:rPr>
              <a:t>Atraso Normal</a:t>
            </a:r>
            <a:endParaRPr/>
          </a:p>
        </p:txBody>
      </p:sp>
      <p:sp>
        <p:nvSpPr>
          <p:cNvPr id="1842588145" name="TextBox 6"/>
          <p:cNvSpPr txBox="1"/>
          <p:nvPr/>
        </p:nvSpPr>
        <p:spPr bwMode="auto">
          <a:xfrm>
            <a:off x="1124712" y="1444752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0">
                <a:solidFill>
                  <a:srgbClr val="444444"/>
                </a:solidFill>
              </a:rPr>
              <a:t>✓ RTT ≈ 2μ em todos os cenários</a:t>
            </a:r>
            <a:endParaRPr/>
          </a:p>
        </p:txBody>
      </p:sp>
      <p:sp>
        <p:nvSpPr>
          <p:cNvPr id="1757033462" name="Rectangle 7"/>
          <p:cNvSpPr/>
          <p:nvPr/>
        </p:nvSpPr>
        <p:spPr bwMode="auto">
          <a:xfrm>
            <a:off x="6172200" y="1024128"/>
            <a:ext cx="685800" cy="685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81414280" name="TextBox 8"/>
          <p:cNvSpPr txBox="1"/>
          <p:nvPr/>
        </p:nvSpPr>
        <p:spPr bwMode="auto">
          <a:xfrm>
            <a:off x="6172200" y="1115568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D2</a:t>
            </a:r>
            <a:endParaRPr/>
          </a:p>
        </p:txBody>
      </p:sp>
      <p:sp>
        <p:nvSpPr>
          <p:cNvPr id="810037637" name="TextBox 9"/>
          <p:cNvSpPr txBox="1"/>
          <p:nvPr/>
        </p:nvSpPr>
        <p:spPr bwMode="auto">
          <a:xfrm>
            <a:off x="6931152" y="1024128"/>
            <a:ext cx="4206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1" i="0">
                <a:solidFill>
                  <a:srgbClr val="102A4A"/>
                </a:solidFill>
              </a:rPr>
              <a:t>Perda Bernoulli</a:t>
            </a:r>
            <a:endParaRPr/>
          </a:p>
        </p:txBody>
      </p:sp>
      <p:sp>
        <p:nvSpPr>
          <p:cNvPr id="2006379588" name="TextBox 10"/>
          <p:cNvSpPr txBox="1"/>
          <p:nvPr/>
        </p:nvSpPr>
        <p:spPr bwMode="auto">
          <a:xfrm>
            <a:off x="6931152" y="1444752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0">
                <a:solidFill>
                  <a:srgbClr val="444444"/>
                </a:solidFill>
              </a:rPr>
              <a:t>✓ taxa empírica ≈ p_ef; p_ef ≈ real</a:t>
            </a:r>
            <a:endParaRPr/>
          </a:p>
        </p:txBody>
      </p:sp>
      <p:sp>
        <p:nvSpPr>
          <p:cNvPr id="72650634" name="Rectangle 11"/>
          <p:cNvSpPr/>
          <p:nvPr/>
        </p:nvSpPr>
        <p:spPr bwMode="auto">
          <a:xfrm>
            <a:off x="365760" y="2066543"/>
            <a:ext cx="685800" cy="685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7070395" name="TextBox 12"/>
          <p:cNvSpPr txBox="1"/>
          <p:nvPr/>
        </p:nvSpPr>
        <p:spPr bwMode="auto">
          <a:xfrm>
            <a:off x="365760" y="2157984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D3</a:t>
            </a:r>
            <a:endParaRPr/>
          </a:p>
        </p:txBody>
      </p:sp>
      <p:sp>
        <p:nvSpPr>
          <p:cNvPr id="1191944319" name="TextBox 13"/>
          <p:cNvSpPr txBox="1"/>
          <p:nvPr/>
        </p:nvSpPr>
        <p:spPr bwMode="auto">
          <a:xfrm>
            <a:off x="1124712" y="2066543"/>
            <a:ext cx="4206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1" i="0">
                <a:solidFill>
                  <a:srgbClr val="102A4A"/>
                </a:solidFill>
              </a:rPr>
              <a:t>Timeout/retransmissão</a:t>
            </a:r>
            <a:endParaRPr/>
          </a:p>
        </p:txBody>
      </p:sp>
      <p:sp>
        <p:nvSpPr>
          <p:cNvPr id="1623499113" name="TextBox 14"/>
          <p:cNvSpPr txBox="1"/>
          <p:nvPr/>
        </p:nvSpPr>
        <p:spPr bwMode="auto">
          <a:xfrm>
            <a:off x="1124712" y="2487168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0">
                <a:solidFill>
                  <a:srgbClr val="444444"/>
                </a:solidFill>
              </a:rPr>
              <a:t>✓ 0 retx sem perda; compatível com real</a:t>
            </a:r>
            <a:endParaRPr/>
          </a:p>
        </p:txBody>
      </p:sp>
      <p:sp>
        <p:nvSpPr>
          <p:cNvPr id="550989634" name="Rectangle 15"/>
          <p:cNvSpPr/>
          <p:nvPr/>
        </p:nvSpPr>
        <p:spPr bwMode="auto">
          <a:xfrm>
            <a:off x="6172200" y="2066543"/>
            <a:ext cx="685800" cy="685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57140955" name="TextBox 16"/>
          <p:cNvSpPr txBox="1"/>
          <p:nvPr/>
        </p:nvSpPr>
        <p:spPr bwMode="auto">
          <a:xfrm>
            <a:off x="6172200" y="2157984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D4</a:t>
            </a:r>
            <a:endParaRPr/>
          </a:p>
        </p:txBody>
      </p:sp>
      <p:sp>
        <p:nvSpPr>
          <p:cNvPr id="1787723859" name="TextBox 17"/>
          <p:cNvSpPr txBox="1"/>
          <p:nvPr/>
        </p:nvSpPr>
        <p:spPr bwMode="auto">
          <a:xfrm>
            <a:off x="6931152" y="2066543"/>
            <a:ext cx="4206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1" i="0">
                <a:solidFill>
                  <a:srgbClr val="102A4A"/>
                </a:solidFill>
              </a:rPr>
              <a:t>Curva de vazão</a:t>
            </a:r>
            <a:endParaRPr/>
          </a:p>
        </p:txBody>
      </p:sp>
      <p:sp>
        <p:nvSpPr>
          <p:cNvPr id="1707001236" name="TextBox 18"/>
          <p:cNvSpPr txBox="1"/>
          <p:nvPr/>
        </p:nvSpPr>
        <p:spPr bwMode="auto">
          <a:xfrm>
            <a:off x="6931152" y="2487168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0">
                <a:solidFill>
                  <a:srgbClr val="444444"/>
                </a:solidFill>
              </a:rPr>
              <a:t>✓ A satura em 97% teto; B limitado por perda</a:t>
            </a:r>
            <a:endParaRPr/>
          </a:p>
        </p:txBody>
      </p:sp>
      <p:sp>
        <p:nvSpPr>
          <p:cNvPr id="1252709579" name="Rectangle 19"/>
          <p:cNvSpPr/>
          <p:nvPr/>
        </p:nvSpPr>
        <p:spPr bwMode="auto">
          <a:xfrm>
            <a:off x="365760" y="3108960"/>
            <a:ext cx="685800" cy="685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56903570" name="TextBox 20"/>
          <p:cNvSpPr txBox="1"/>
          <p:nvPr/>
        </p:nvSpPr>
        <p:spPr bwMode="auto">
          <a:xfrm>
            <a:off x="365760" y="3200400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D5</a:t>
            </a:r>
            <a:endParaRPr/>
          </a:p>
        </p:txBody>
      </p:sp>
      <p:sp>
        <p:nvSpPr>
          <p:cNvPr id="1807079696" name="TextBox 21"/>
          <p:cNvSpPr txBox="1"/>
          <p:nvPr/>
        </p:nvSpPr>
        <p:spPr bwMode="auto">
          <a:xfrm>
            <a:off x="1124712" y="3108960"/>
            <a:ext cx="4206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1" i="0">
                <a:solidFill>
                  <a:srgbClr val="102A4A"/>
                </a:solidFill>
              </a:rPr>
              <a:t>Sensibilidade janela</a:t>
            </a:r>
            <a:endParaRPr/>
          </a:p>
        </p:txBody>
      </p:sp>
      <p:sp>
        <p:nvSpPr>
          <p:cNvPr id="339870167" name="TextBox 22"/>
          <p:cNvSpPr txBox="1"/>
          <p:nvPr/>
        </p:nvSpPr>
        <p:spPr bwMode="auto">
          <a:xfrm>
            <a:off x="1124712" y="3529584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0">
                <a:solidFill>
                  <a:srgbClr val="444444"/>
                </a:solidFill>
              </a:rPr>
              <a:t>✓ joelho em N=12; BDP prevê N*=10</a:t>
            </a:r>
            <a:endParaRPr/>
          </a:p>
        </p:txBody>
      </p:sp>
      <p:sp>
        <p:nvSpPr>
          <p:cNvPr id="258333930" name="Rectangle 23"/>
          <p:cNvSpPr/>
          <p:nvPr/>
        </p:nvSpPr>
        <p:spPr bwMode="auto">
          <a:xfrm>
            <a:off x="6172200" y="3108960"/>
            <a:ext cx="685800" cy="685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0548005" name="TextBox 24"/>
          <p:cNvSpPr txBox="1"/>
          <p:nvPr/>
        </p:nvSpPr>
        <p:spPr bwMode="auto">
          <a:xfrm>
            <a:off x="6172200" y="3200400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D6</a:t>
            </a:r>
            <a:endParaRPr/>
          </a:p>
        </p:txBody>
      </p:sp>
      <p:sp>
        <p:nvSpPr>
          <p:cNvPr id="1946489897" name="TextBox 25"/>
          <p:cNvSpPr txBox="1"/>
          <p:nvPr/>
        </p:nvSpPr>
        <p:spPr bwMode="auto">
          <a:xfrm>
            <a:off x="6931152" y="3108960"/>
            <a:ext cx="4206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1" i="0">
                <a:solidFill>
                  <a:srgbClr val="102A4A"/>
                </a:solidFill>
              </a:rPr>
              <a:t>Validação RTT</a:t>
            </a:r>
            <a:endParaRPr/>
          </a:p>
        </p:txBody>
      </p:sp>
      <p:sp>
        <p:nvSpPr>
          <p:cNvPr id="445191071" name="TextBox 26"/>
          <p:cNvSpPr txBox="1"/>
          <p:nvPr/>
        </p:nvSpPr>
        <p:spPr bwMode="auto">
          <a:xfrm>
            <a:off x="6931152" y="3529584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0">
                <a:solidFill>
                  <a:srgbClr val="444444"/>
                </a:solidFill>
              </a:rPr>
              <a:t>✓ mapeamento direto; validado por construção</a:t>
            </a:r>
            <a:endParaRPr/>
          </a:p>
        </p:txBody>
      </p:sp>
      <p:sp>
        <p:nvSpPr>
          <p:cNvPr id="18697850" name="Rectangle 27"/>
          <p:cNvSpPr/>
          <p:nvPr/>
        </p:nvSpPr>
        <p:spPr bwMode="auto">
          <a:xfrm>
            <a:off x="365760" y="4151376"/>
            <a:ext cx="685800" cy="685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44789200" name="TextBox 28"/>
          <p:cNvSpPr txBox="1"/>
          <p:nvPr/>
        </p:nvSpPr>
        <p:spPr bwMode="auto">
          <a:xfrm>
            <a:off x="365760" y="4242816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D7</a:t>
            </a:r>
            <a:endParaRPr/>
          </a:p>
        </p:txBody>
      </p:sp>
      <p:sp>
        <p:nvSpPr>
          <p:cNvPr id="1275798237" name="TextBox 29"/>
          <p:cNvSpPr txBox="1"/>
          <p:nvPr/>
        </p:nvSpPr>
        <p:spPr bwMode="auto">
          <a:xfrm>
            <a:off x="1124712" y="4151376"/>
            <a:ext cx="4206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1" i="0">
                <a:solidFill>
                  <a:srgbClr val="102A4A"/>
                </a:solidFill>
              </a:rPr>
              <a:t>Jitter</a:t>
            </a:r>
            <a:endParaRPr/>
          </a:p>
        </p:txBody>
      </p:sp>
      <p:sp>
        <p:nvSpPr>
          <p:cNvPr id="2254598" name="TextBox 30"/>
          <p:cNvSpPr txBox="1"/>
          <p:nvPr/>
        </p:nvSpPr>
        <p:spPr bwMode="auto">
          <a:xfrm>
            <a:off x="1124712" y="457200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0">
                <a:solidFill>
                  <a:srgbClr val="444444"/>
                </a:solidFill>
              </a:rPr>
              <a:t>✓ dispersão e média crescem com σ</a:t>
            </a:r>
            <a:endParaRPr/>
          </a:p>
        </p:txBody>
      </p:sp>
      <p:sp>
        <p:nvSpPr>
          <p:cNvPr id="1664575450" name="Rectangle 31"/>
          <p:cNvSpPr/>
          <p:nvPr/>
        </p:nvSpPr>
        <p:spPr bwMode="auto">
          <a:xfrm>
            <a:off x="6172200" y="4151376"/>
            <a:ext cx="685800" cy="685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45895827" name="TextBox 32"/>
          <p:cNvSpPr txBox="1"/>
          <p:nvPr/>
        </p:nvSpPr>
        <p:spPr bwMode="auto">
          <a:xfrm>
            <a:off x="6172200" y="4242816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D8</a:t>
            </a:r>
            <a:endParaRPr/>
          </a:p>
        </p:txBody>
      </p:sp>
      <p:sp>
        <p:nvSpPr>
          <p:cNvPr id="914002705" name="TextBox 33"/>
          <p:cNvSpPr txBox="1"/>
          <p:nvPr/>
        </p:nvSpPr>
        <p:spPr bwMode="auto">
          <a:xfrm>
            <a:off x="6931152" y="4151376"/>
            <a:ext cx="4206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1" i="0">
                <a:solidFill>
                  <a:srgbClr val="102A4A"/>
                </a:solidFill>
              </a:rPr>
              <a:t>Estresse 25%</a:t>
            </a:r>
            <a:endParaRPr/>
          </a:p>
        </p:txBody>
      </p:sp>
      <p:sp>
        <p:nvSpPr>
          <p:cNvPr id="98301420" name="TextBox 34"/>
          <p:cNvSpPr txBox="1"/>
          <p:nvPr/>
        </p:nvSpPr>
        <p:spPr bwMode="auto">
          <a:xfrm>
            <a:off x="6931152" y="457200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0">
                <a:solidFill>
                  <a:srgbClr val="444444"/>
                </a:solidFill>
              </a:rPr>
              <a:t>✓ previsão 213 s compatível com tendência</a:t>
            </a:r>
            <a:endParaRPr/>
          </a:p>
        </p:txBody>
      </p:sp>
      <p:sp>
        <p:nvSpPr>
          <p:cNvPr id="2023836035" name="Rectangle 35"/>
          <p:cNvSpPr/>
          <p:nvPr/>
        </p:nvSpPr>
        <p:spPr bwMode="auto">
          <a:xfrm>
            <a:off x="365760" y="5193792"/>
            <a:ext cx="685800" cy="685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26316403" name="TextBox 36"/>
          <p:cNvSpPr txBox="1"/>
          <p:nvPr/>
        </p:nvSpPr>
        <p:spPr bwMode="auto">
          <a:xfrm>
            <a:off x="365760" y="5285231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D9</a:t>
            </a:r>
            <a:endParaRPr/>
          </a:p>
        </p:txBody>
      </p:sp>
      <p:sp>
        <p:nvSpPr>
          <p:cNvPr id="938711009" name="TextBox 37"/>
          <p:cNvSpPr txBox="1"/>
          <p:nvPr/>
        </p:nvSpPr>
        <p:spPr bwMode="auto">
          <a:xfrm>
            <a:off x="1124712" y="5193792"/>
            <a:ext cx="4206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1" i="0">
                <a:solidFill>
                  <a:srgbClr val="102A4A"/>
                </a:solidFill>
              </a:rPr>
              <a:t>Eficiência DADOS/ACK</a:t>
            </a:r>
            <a:endParaRPr/>
          </a:p>
        </p:txBody>
      </p:sp>
      <p:sp>
        <p:nvSpPr>
          <p:cNvPr id="1260945293" name="TextBox 38"/>
          <p:cNvSpPr txBox="1"/>
          <p:nvPr/>
        </p:nvSpPr>
        <p:spPr bwMode="auto">
          <a:xfrm>
            <a:off x="1124712" y="5614416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0">
                <a:solidFill>
                  <a:srgbClr val="444444"/>
                </a:solidFill>
              </a:rPr>
              <a:t>✓ segue lei 1/(1−p_ef) com &lt; 0,5% de erro</a:t>
            </a:r>
            <a:endParaRPr/>
          </a:p>
        </p:txBody>
      </p:sp>
      <p:sp>
        <p:nvSpPr>
          <p:cNvPr id="1889456686" name="Rectangle 39"/>
          <p:cNvSpPr/>
          <p:nvPr/>
        </p:nvSpPr>
        <p:spPr bwMode="auto">
          <a:xfrm>
            <a:off x="6172200" y="5193792"/>
            <a:ext cx="685800" cy="68580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32597720" name="TextBox 40"/>
          <p:cNvSpPr txBox="1"/>
          <p:nvPr/>
        </p:nvSpPr>
        <p:spPr bwMode="auto">
          <a:xfrm>
            <a:off x="6172200" y="5285231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300" b="1" i="0">
                <a:solidFill>
                  <a:srgbClr val="FFFFFF"/>
                </a:solidFill>
              </a:rPr>
              <a:t>D10</a:t>
            </a:r>
            <a:endParaRPr/>
          </a:p>
        </p:txBody>
      </p:sp>
      <p:sp>
        <p:nvSpPr>
          <p:cNvPr id="1235328066" name="TextBox 41"/>
          <p:cNvSpPr txBox="1"/>
          <p:nvPr/>
        </p:nvSpPr>
        <p:spPr bwMode="auto">
          <a:xfrm>
            <a:off x="6931152" y="5193792"/>
            <a:ext cx="42062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300" b="1" i="0">
                <a:solidFill>
                  <a:srgbClr val="102A4A"/>
                </a:solidFill>
              </a:rPr>
              <a:t>Convergência IC</a:t>
            </a:r>
            <a:endParaRPr/>
          </a:p>
        </p:txBody>
      </p:sp>
      <p:sp>
        <p:nvSpPr>
          <p:cNvPr id="1008366378" name="TextBox 42"/>
          <p:cNvSpPr txBox="1"/>
          <p:nvPr/>
        </p:nvSpPr>
        <p:spPr bwMode="auto">
          <a:xfrm>
            <a:off x="6931152" y="5614416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200" b="0" i="0">
                <a:solidFill>
                  <a:srgbClr val="444444"/>
                </a:solidFill>
              </a:rPr>
              <a:t>✓ C coberto; A e B com viés sistemático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2A4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00651" name="Rectangle 1"/>
          <p:cNvSpPr/>
          <p:nvPr/>
        </p:nvSpPr>
        <p:spPr bwMode="auto">
          <a:xfrm>
            <a:off x="0" y="0"/>
            <a:ext cx="109728" cy="685800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73346954" name="TextBox 2"/>
          <p:cNvSpPr txBox="1"/>
          <p:nvPr/>
        </p:nvSpPr>
        <p:spPr bwMode="auto">
          <a:xfrm>
            <a:off x="320040" y="2011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4600" b="1" i="0">
                <a:solidFill>
                  <a:srgbClr val="FFFFFF"/>
                </a:solidFill>
              </a:rPr>
              <a:t>6. Discussão</a:t>
            </a:r>
            <a:endParaRPr/>
          </a:p>
        </p:txBody>
      </p:sp>
      <p:sp>
        <p:nvSpPr>
          <p:cNvPr id="440370683" name="TextBox 3"/>
          <p:cNvSpPr txBox="1"/>
          <p:nvPr/>
        </p:nvSpPr>
        <p:spPr bwMode="auto">
          <a:xfrm>
            <a:off x="320040" y="3566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200" b="0" i="0">
                <a:solidFill>
                  <a:srgbClr val="5BB4F5"/>
                </a:solidFill>
              </a:rPr>
              <a:t>Teoria estocástica vs. prática de rede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7154767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57900815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O que o Modelo Captura Bem</a:t>
            </a:r>
            <a:endParaRPr/>
          </a:p>
        </p:txBody>
      </p:sp>
      <p:sp>
        <p:nvSpPr>
          <p:cNvPr id="1112775499" name="TextBox 3"/>
          <p:cNvSpPr txBox="1"/>
          <p:nvPr/>
        </p:nvSpPr>
        <p:spPr bwMode="auto">
          <a:xfrm>
            <a:off x="365760" y="1051560"/>
            <a:ext cx="11430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800" b="1">
                <a:solidFill>
                  <a:srgbClr val="1E8B4C"/>
                </a:solidFill>
              </a:rPr>
              <a:t>Concordâncias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800">
                <a:solidFill>
                  <a:srgbClr val="444444"/>
                </a:solidFill>
              </a:rPr>
              <a:t>▸ Tempo de transferência em faixa de 200× com erro &lt; 7,5%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800">
                <a:solidFill>
                  <a:srgbClr val="444444"/>
                </a:solidFill>
              </a:rPr>
              <a:t>▸ Contagens de retransmissão próximas das medições reais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800">
                <a:solidFill>
                  <a:srgbClr val="444444"/>
                </a:solidFill>
              </a:rPr>
              <a:t>▸ Vazão e eficiência compatíveis com limites analíticos independentes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800">
                <a:solidFill>
                  <a:srgbClr val="444444"/>
                </a:solidFill>
              </a:rPr>
              <a:t>▸ Todos os 10 experimentos consistentes com propriedades esperadas do protocolo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800">
                <a:solidFill>
                  <a:srgbClr val="444444"/>
                </a:solidFill>
              </a:rPr>
              <a:t>▸ Mesma estrutura para calibração, varreduras e extrapolação — sem re-ajuste</a:t>
            </a:r>
            <a:endParaRPr/>
          </a:p>
        </p:txBody>
      </p:sp>
      <p:sp>
        <p:nvSpPr>
          <p:cNvPr id="2115845581" name="Rectangle 4"/>
          <p:cNvSpPr/>
          <p:nvPr/>
        </p:nvSpPr>
        <p:spPr bwMode="auto">
          <a:xfrm>
            <a:off x="365760" y="4663440"/>
            <a:ext cx="11430000" cy="77724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8495982" name="TextBox 5"/>
          <p:cNvSpPr txBox="1"/>
          <p:nvPr/>
        </p:nvSpPr>
        <p:spPr bwMode="auto">
          <a:xfrm>
            <a:off x="502920" y="47091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0" i="0">
                <a:solidFill>
                  <a:srgbClr val="FFFFFF"/>
                </a:solidFill>
              </a:rPr>
              <a:t>Unidade metodológica: tempo e retransmissões emergem da mesma dinâmica de eventos em todos os experimentos.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8517910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26471442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Limitações e Discrepâncias</a:t>
            </a:r>
            <a:endParaRPr/>
          </a:p>
        </p:txBody>
      </p:sp>
      <p:sp>
        <p:nvSpPr>
          <p:cNvPr id="1413966211" name="Rectangle 3"/>
          <p:cNvSpPr/>
          <p:nvPr/>
        </p:nvSpPr>
        <p:spPr bwMode="auto">
          <a:xfrm>
            <a:off x="365760" y="1051560"/>
            <a:ext cx="109728" cy="960120"/>
          </a:xfrm>
          <a:prstGeom prst="rect">
            <a:avLst/>
          </a:prstGeom>
          <a:solidFill>
            <a:srgbClr val="E0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28821525" name="TextBox 4"/>
          <p:cNvSpPr txBox="1"/>
          <p:nvPr/>
        </p:nvSpPr>
        <p:spPr bwMode="auto">
          <a:xfrm>
            <a:off x="594360" y="10515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E06C0A"/>
                </a:solidFill>
              </a:rPr>
              <a:t>Viés no cenário B (+7,4%)</a:t>
            </a:r>
            <a:endParaRPr/>
          </a:p>
        </p:txBody>
      </p:sp>
      <p:sp>
        <p:nvSpPr>
          <p:cNvPr id="131401861" name="TextBox 5"/>
          <p:cNvSpPr txBox="1"/>
          <p:nvPr/>
        </p:nvSpPr>
        <p:spPr bwMode="auto">
          <a:xfrm>
            <a:off x="594360" y="1508759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Perda moderada amplifica correlação de perdas, distribuição real do atraso e dinâmica dos ACKs — não modelados</a:t>
            </a:r>
            <a:endParaRPr/>
          </a:p>
        </p:txBody>
      </p:sp>
      <p:sp>
        <p:nvSpPr>
          <p:cNvPr id="465526063" name="Rectangle 6"/>
          <p:cNvSpPr/>
          <p:nvPr/>
        </p:nvSpPr>
        <p:spPr bwMode="auto">
          <a:xfrm>
            <a:off x="365760" y="2368296"/>
            <a:ext cx="109728" cy="960120"/>
          </a:xfrm>
          <a:prstGeom prst="rect">
            <a:avLst/>
          </a:prstGeom>
          <a:solidFill>
            <a:srgbClr val="E0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79604706" name="TextBox 7"/>
          <p:cNvSpPr txBox="1"/>
          <p:nvPr/>
        </p:nvSpPr>
        <p:spPr bwMode="auto">
          <a:xfrm>
            <a:off x="594360" y="2368296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E06C0A"/>
                </a:solidFill>
              </a:rPr>
              <a:t>Aceleração no cenário A (−1,0%)</a:t>
            </a:r>
            <a:endParaRPr/>
          </a:p>
        </p:txBody>
      </p:sp>
      <p:sp>
        <p:nvSpPr>
          <p:cNvPr id="598794819" name="TextBox 8"/>
          <p:cNvSpPr txBox="1"/>
          <p:nvPr/>
        </p:nvSpPr>
        <p:spPr bwMode="auto">
          <a:xfrm>
            <a:off x="594360" y="2825496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Custos fixos de handshake, encerramento e escalonamento omitidos — relevantes apenas em transferências &lt; 1 s</a:t>
            </a:r>
            <a:endParaRPr/>
          </a:p>
        </p:txBody>
      </p:sp>
      <p:sp>
        <p:nvSpPr>
          <p:cNvPr id="1210348945" name="Rectangle 9"/>
          <p:cNvSpPr/>
          <p:nvPr/>
        </p:nvSpPr>
        <p:spPr bwMode="auto">
          <a:xfrm>
            <a:off x="365760" y="3685031"/>
            <a:ext cx="109728" cy="960120"/>
          </a:xfrm>
          <a:prstGeom prst="rect">
            <a:avLst/>
          </a:prstGeom>
          <a:solidFill>
            <a:srgbClr val="E0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9131620" name="TextBox 10"/>
          <p:cNvSpPr txBox="1"/>
          <p:nvPr/>
        </p:nvSpPr>
        <p:spPr bwMode="auto">
          <a:xfrm>
            <a:off x="594360" y="3685031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E06C0A"/>
                </a:solidFill>
              </a:rPr>
              <a:t>Perda de ACKs não modelada</a:t>
            </a:r>
            <a:endParaRPr/>
          </a:p>
        </p:txBody>
      </p:sp>
      <p:sp>
        <p:nvSpPr>
          <p:cNvPr id="1010032396" name="TextBox 11"/>
          <p:cNvSpPr txBox="1"/>
          <p:nvPr/>
        </p:nvSpPr>
        <p:spPr bwMode="auto">
          <a:xfrm>
            <a:off x="594360" y="4142231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GBN cumulativo atenua o impacto, mas pode distorcer a contagem de retransmissões em perda assimétrica</a:t>
            </a:r>
            <a:endParaRPr/>
          </a:p>
        </p:txBody>
      </p:sp>
      <p:sp>
        <p:nvSpPr>
          <p:cNvPr id="514375598" name="Rectangle 12"/>
          <p:cNvSpPr/>
          <p:nvPr/>
        </p:nvSpPr>
        <p:spPr bwMode="auto">
          <a:xfrm>
            <a:off x="365760" y="5001768"/>
            <a:ext cx="109728" cy="960120"/>
          </a:xfrm>
          <a:prstGeom prst="rect">
            <a:avLst/>
          </a:prstGeom>
          <a:solidFill>
            <a:srgbClr val="E0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33777070" name="TextBox 13"/>
          <p:cNvSpPr txBox="1"/>
          <p:nvPr/>
        </p:nvSpPr>
        <p:spPr bwMode="auto">
          <a:xfrm>
            <a:off x="594360" y="5001768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E06C0A"/>
                </a:solidFill>
              </a:rPr>
              <a:t>Perda Bernoulli i.i.d.</a:t>
            </a:r>
            <a:endParaRPr/>
          </a:p>
        </p:txBody>
      </p:sp>
      <p:sp>
        <p:nvSpPr>
          <p:cNvPr id="443870293" name="TextBox 14"/>
          <p:cNvSpPr txBox="1"/>
          <p:nvPr/>
        </p:nvSpPr>
        <p:spPr bwMode="auto">
          <a:xfrm>
            <a:off x="594360" y="5458968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Ignora correlação em rajada; modelo Gilbert-Elliott seria mais fiel a certos enlaces reais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2A4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411373" name="Rectangle 1"/>
          <p:cNvSpPr/>
          <p:nvPr/>
        </p:nvSpPr>
        <p:spPr bwMode="auto">
          <a:xfrm>
            <a:off x="0" y="0"/>
            <a:ext cx="109728" cy="685800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13497216" name="TextBox 2"/>
          <p:cNvSpPr txBox="1"/>
          <p:nvPr/>
        </p:nvSpPr>
        <p:spPr bwMode="auto">
          <a:xfrm>
            <a:off x="320040" y="2011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4600" b="1" i="0">
                <a:solidFill>
                  <a:srgbClr val="FFFFFF"/>
                </a:solidFill>
              </a:rPr>
              <a:t>7. Conclusão</a:t>
            </a:r>
            <a:endParaRPr/>
          </a:p>
        </p:txBody>
      </p:sp>
      <p:sp>
        <p:nvSpPr>
          <p:cNvPr id="342653217" name="TextBox 3"/>
          <p:cNvSpPr txBox="1"/>
          <p:nvPr/>
        </p:nvSpPr>
        <p:spPr bwMode="auto">
          <a:xfrm>
            <a:off x="320040" y="3566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200" b="0" i="0">
                <a:solidFill>
                  <a:srgbClr val="5BB4F5"/>
                </a:solidFill>
              </a:rPr>
              <a:t>Resultados e próximos passos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0537185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47701493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Conclusão</a:t>
            </a:r>
            <a:endParaRPr/>
          </a:p>
        </p:txBody>
      </p:sp>
      <p:sp>
        <p:nvSpPr>
          <p:cNvPr id="695668724" name="TextBox 3"/>
          <p:cNvSpPr txBox="1"/>
          <p:nvPr/>
        </p:nvSpPr>
        <p:spPr bwMode="auto">
          <a:xfrm>
            <a:off x="365760" y="1051560"/>
            <a:ext cx="11430720" cy="12604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Modelo parcimonioso e sem fatores de ajuste reproduz o sistema real em faixa de 200×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Erros relativos entre 1,0% e 7,4%; cenário de alta perda coberto por IC bootstrap 95%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10 tarefas de validação satisfeitas — consistentes com limites analíticos independentes</a:t>
            </a:r>
            <a:endParaRPr/>
          </a:p>
          <a:p>
            <a:pPr algn="l">
              <a:spcBef>
                <a:spcPts val="300"/>
              </a:spcBef>
              <a:defRPr/>
            </a:pPr>
            <a:r>
              <a:rPr sz="1700">
                <a:solidFill>
                  <a:srgbClr val="444444"/>
                </a:solidFill>
              </a:rPr>
              <a:t>▸ Resíduos são informativos: localizam onde teoria estocástica diverge da prática</a:t>
            </a:r>
            <a:endParaRPr/>
          </a:p>
        </p:txBody>
      </p:sp>
      <p:sp>
        <p:nvSpPr>
          <p:cNvPr id="268138991" name="Rectangle 4"/>
          <p:cNvSpPr/>
          <p:nvPr/>
        </p:nvSpPr>
        <p:spPr bwMode="auto">
          <a:xfrm>
            <a:off x="365760" y="2785769"/>
            <a:ext cx="11430000" cy="146304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70876635" name="TextBox 5"/>
          <p:cNvSpPr txBox="1"/>
          <p:nvPr/>
        </p:nvSpPr>
        <p:spPr bwMode="auto">
          <a:xfrm>
            <a:off x="548640" y="2858920"/>
            <a:ext cx="11064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700" b="0" i="0">
                <a:solidFill>
                  <a:srgbClr val="FFFFFF"/>
                </a:solidFill>
              </a:rPr>
              <a:t>Um modelo estocástico de eventos discretos pode aproximar o comportamento de um protocolo R-UDP GBN real — dentro dos limites das simplificações adotadas.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4F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009873" name="Rectangle 1"/>
          <p:cNvSpPr/>
          <p:nvPr/>
        </p:nvSpPr>
        <p:spPr bwMode="auto">
          <a:xfrm>
            <a:off x="0" y="0"/>
            <a:ext cx="12191695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83218221" name="TextBox 2"/>
          <p:cNvSpPr txBox="1"/>
          <p:nvPr/>
        </p:nvSpPr>
        <p:spPr bwMode="auto">
          <a:xfrm>
            <a:off x="274320" y="109728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2600" b="1" i="0">
                <a:solidFill>
                  <a:srgbClr val="FFFFFF"/>
                </a:solidFill>
              </a:rPr>
              <a:t>Trabalhos Futuros</a:t>
            </a:r>
            <a:endParaRPr/>
          </a:p>
        </p:txBody>
      </p:sp>
      <p:sp>
        <p:nvSpPr>
          <p:cNvPr id="797059214" name="Rectangle 3"/>
          <p:cNvSpPr/>
          <p:nvPr/>
        </p:nvSpPr>
        <p:spPr bwMode="auto">
          <a:xfrm>
            <a:off x="365760" y="1124712"/>
            <a:ext cx="347472" cy="347472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71697536" name="TextBox 4"/>
          <p:cNvSpPr txBox="1"/>
          <p:nvPr/>
        </p:nvSpPr>
        <p:spPr bwMode="auto">
          <a:xfrm>
            <a:off x="365760" y="1133856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1</a:t>
            </a:r>
            <a:endParaRPr/>
          </a:p>
        </p:txBody>
      </p:sp>
      <p:sp>
        <p:nvSpPr>
          <p:cNvPr id="858393270" name="TextBox 5"/>
          <p:cNvSpPr txBox="1"/>
          <p:nvPr/>
        </p:nvSpPr>
        <p:spPr bwMode="auto">
          <a:xfrm>
            <a:off x="850392" y="105156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102A4A"/>
                </a:solidFill>
              </a:rPr>
              <a:t>Selective Repeat</a:t>
            </a:r>
            <a:endParaRPr/>
          </a:p>
        </p:txBody>
      </p:sp>
      <p:sp>
        <p:nvSpPr>
          <p:cNvPr id="106585598" name="TextBox 6"/>
          <p:cNvSpPr txBox="1"/>
          <p:nvPr/>
        </p:nvSpPr>
        <p:spPr bwMode="auto">
          <a:xfrm>
            <a:off x="850392" y="1508759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Implementar SR e comparar goodput com GBN sob diferentes regimes de perda</a:t>
            </a:r>
            <a:endParaRPr/>
          </a:p>
        </p:txBody>
      </p:sp>
      <p:sp>
        <p:nvSpPr>
          <p:cNvPr id="824438485" name="Rectangle 7"/>
          <p:cNvSpPr/>
          <p:nvPr/>
        </p:nvSpPr>
        <p:spPr bwMode="auto">
          <a:xfrm>
            <a:off x="365760" y="2221991"/>
            <a:ext cx="347472" cy="347472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5972244" name="TextBox 8"/>
          <p:cNvSpPr txBox="1"/>
          <p:nvPr/>
        </p:nvSpPr>
        <p:spPr bwMode="auto">
          <a:xfrm>
            <a:off x="365760" y="2231135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2</a:t>
            </a:r>
            <a:endParaRPr/>
          </a:p>
        </p:txBody>
      </p:sp>
      <p:sp>
        <p:nvSpPr>
          <p:cNvPr id="1912185762" name="TextBox 9"/>
          <p:cNvSpPr txBox="1"/>
          <p:nvPr/>
        </p:nvSpPr>
        <p:spPr bwMode="auto">
          <a:xfrm>
            <a:off x="850392" y="2148839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102A4A"/>
                </a:solidFill>
              </a:rPr>
              <a:t>Perda de ACKs</a:t>
            </a:r>
            <a:endParaRPr/>
          </a:p>
        </p:txBody>
      </p:sp>
      <p:sp>
        <p:nvSpPr>
          <p:cNvPr id="145730092" name="TextBox 10"/>
          <p:cNvSpPr txBox="1"/>
          <p:nvPr/>
        </p:nvSpPr>
        <p:spPr bwMode="auto">
          <a:xfrm>
            <a:off x="850392" y="2606039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Modelar explicitamente e avaliar impacto em cenários de perda assimétrica</a:t>
            </a:r>
            <a:endParaRPr/>
          </a:p>
        </p:txBody>
      </p:sp>
      <p:sp>
        <p:nvSpPr>
          <p:cNvPr id="1247342126" name="Rectangle 11"/>
          <p:cNvSpPr/>
          <p:nvPr/>
        </p:nvSpPr>
        <p:spPr bwMode="auto">
          <a:xfrm>
            <a:off x="365760" y="3319272"/>
            <a:ext cx="347472" cy="347472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98255185" name="TextBox 12"/>
          <p:cNvSpPr txBox="1"/>
          <p:nvPr/>
        </p:nvSpPr>
        <p:spPr bwMode="auto">
          <a:xfrm>
            <a:off x="365760" y="3328415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3</a:t>
            </a:r>
            <a:endParaRPr/>
          </a:p>
        </p:txBody>
      </p:sp>
      <p:sp>
        <p:nvSpPr>
          <p:cNvPr id="1925629867" name="TextBox 13"/>
          <p:cNvSpPr txBox="1"/>
          <p:nvPr/>
        </p:nvSpPr>
        <p:spPr bwMode="auto">
          <a:xfrm>
            <a:off x="850392" y="324612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102A4A"/>
                </a:solidFill>
              </a:rPr>
              <a:t>Perda correlacionada</a:t>
            </a:r>
            <a:endParaRPr/>
          </a:p>
        </p:txBody>
      </p:sp>
      <p:sp>
        <p:nvSpPr>
          <p:cNvPr id="1467042701" name="TextBox 14"/>
          <p:cNvSpPr txBox="1"/>
          <p:nvPr/>
        </p:nvSpPr>
        <p:spPr bwMode="auto">
          <a:xfrm>
            <a:off x="850392" y="370332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Substituir Bernoulli por Gilbert-Elliott e testar hipótese do viés no cenário B</a:t>
            </a:r>
            <a:endParaRPr/>
          </a:p>
        </p:txBody>
      </p:sp>
      <p:sp>
        <p:nvSpPr>
          <p:cNvPr id="1141977955" name="Rectangle 15"/>
          <p:cNvSpPr/>
          <p:nvPr/>
        </p:nvSpPr>
        <p:spPr bwMode="auto">
          <a:xfrm>
            <a:off x="365760" y="4416552"/>
            <a:ext cx="347472" cy="347472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04534717" name="TextBox 16"/>
          <p:cNvSpPr txBox="1"/>
          <p:nvPr/>
        </p:nvSpPr>
        <p:spPr bwMode="auto">
          <a:xfrm>
            <a:off x="365760" y="4425696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4</a:t>
            </a:r>
            <a:endParaRPr/>
          </a:p>
        </p:txBody>
      </p:sp>
      <p:sp>
        <p:nvSpPr>
          <p:cNvPr id="971125002" name="TextBox 17"/>
          <p:cNvSpPr txBox="1"/>
          <p:nvPr/>
        </p:nvSpPr>
        <p:spPr bwMode="auto">
          <a:xfrm>
            <a:off x="850392" y="43434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102A4A"/>
                </a:solidFill>
              </a:rPr>
              <a:t>Distribuição empírica do atraso</a:t>
            </a:r>
            <a:endParaRPr/>
          </a:p>
        </p:txBody>
      </p:sp>
      <p:sp>
        <p:nvSpPr>
          <p:cNvPr id="1303075156" name="TextBox 18"/>
          <p:cNvSpPr txBox="1"/>
          <p:nvPr/>
        </p:nvSpPr>
        <p:spPr bwMode="auto">
          <a:xfrm>
            <a:off x="850392" y="480060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Ajustar a distribuição de atraso à lei real produzida pelo tc/netem</a:t>
            </a:r>
            <a:endParaRPr/>
          </a:p>
        </p:txBody>
      </p:sp>
      <p:sp>
        <p:nvSpPr>
          <p:cNvPr id="992879949" name="Rectangle 19"/>
          <p:cNvSpPr/>
          <p:nvPr/>
        </p:nvSpPr>
        <p:spPr bwMode="auto">
          <a:xfrm>
            <a:off x="365760" y="5513831"/>
            <a:ext cx="347472" cy="347472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62774805" name="TextBox 20"/>
          <p:cNvSpPr txBox="1"/>
          <p:nvPr/>
        </p:nvSpPr>
        <p:spPr bwMode="auto">
          <a:xfrm>
            <a:off x="365760" y="5522975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FFFFFF"/>
                </a:solidFill>
              </a:rPr>
              <a:t>5</a:t>
            </a:r>
            <a:endParaRPr/>
          </a:p>
        </p:txBody>
      </p:sp>
      <p:sp>
        <p:nvSpPr>
          <p:cNvPr id="1242659235" name="TextBox 21"/>
          <p:cNvSpPr txBox="1"/>
          <p:nvPr/>
        </p:nvSpPr>
        <p:spPr bwMode="auto">
          <a:xfrm>
            <a:off x="850392" y="5440679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102A4A"/>
                </a:solidFill>
              </a:rPr>
              <a:t>Calibração multiponto</a:t>
            </a:r>
            <a:endParaRPr/>
          </a:p>
        </p:txBody>
      </p:sp>
      <p:sp>
        <p:nvSpPr>
          <p:cNvPr id="1976818186" name="TextBox 22"/>
          <p:cNvSpPr txBox="1"/>
          <p:nvPr/>
        </p:nvSpPr>
        <p:spPr bwMode="auto">
          <a:xfrm>
            <a:off x="850392" y="5897879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444444"/>
                </a:solidFill>
              </a:rPr>
              <a:t>Testes pareados ou de equivalência para validação estatística mais abrangente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2A4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823605" name="Rectangle 1"/>
          <p:cNvSpPr/>
          <p:nvPr/>
        </p:nvSpPr>
        <p:spPr bwMode="auto">
          <a:xfrm>
            <a:off x="0" y="0"/>
            <a:ext cx="164592" cy="6858000"/>
          </a:xfrm>
          <a:prstGeom prst="rect">
            <a:avLst/>
          </a:prstGeom>
          <a:solidFill>
            <a:srgbClr val="E0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77428104" name="Rectangle 2"/>
          <p:cNvSpPr/>
          <p:nvPr/>
        </p:nvSpPr>
        <p:spPr bwMode="auto">
          <a:xfrm>
            <a:off x="164592" y="5029200"/>
            <a:ext cx="12191695" cy="1828800"/>
          </a:xfrm>
          <a:prstGeom prst="rect">
            <a:avLst/>
          </a:prstGeom>
          <a:solidFill>
            <a:srgbClr val="1A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11175025" name="TextBox 3"/>
          <p:cNvSpPr txBox="1"/>
          <p:nvPr/>
        </p:nvSpPr>
        <p:spPr bwMode="auto">
          <a:xfrm>
            <a:off x="365760" y="164592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5200" b="1" i="0">
                <a:solidFill>
                  <a:srgbClr val="FFFFFF"/>
                </a:solidFill>
              </a:rPr>
              <a:t>Obrigado!</a:t>
            </a:r>
            <a:endParaRPr/>
          </a:p>
        </p:txBody>
      </p:sp>
      <p:cxnSp>
        <p:nvCxnSpPr>
          <p:cNvPr id="991211431" name="Connector 4"/>
          <p:cNvCxnSpPr/>
          <p:nvPr/>
        </p:nvCxnSpPr>
        <p:spPr bwMode="auto">
          <a:xfrm>
            <a:off x="2286000" y="2880360"/>
            <a:ext cx="7589520" cy="0"/>
          </a:xfrm>
          <a:prstGeom prst="line">
            <a:avLst/>
          </a:prstGeom>
          <a:ln w="38100">
            <a:solidFill>
              <a:srgbClr val="E06C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0981170" name="TextBox 5"/>
          <p:cNvSpPr txBox="1"/>
          <p:nvPr/>
        </p:nvSpPr>
        <p:spPr bwMode="auto">
          <a:xfrm>
            <a:off x="365760" y="30632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700" b="0" i="0">
                <a:solidFill>
                  <a:srgbClr val="5BB4F5"/>
                </a:solidFill>
              </a:rPr>
              <a:t>Anthony Irlan Marques Luz · marquesanthony62@gmail.com</a:t>
            </a:r>
            <a:endParaRPr/>
          </a:p>
        </p:txBody>
      </p:sp>
      <p:sp>
        <p:nvSpPr>
          <p:cNvPr id="861656428" name="TextBox 6"/>
          <p:cNvSpPr txBox="1"/>
          <p:nvPr/>
        </p:nvSpPr>
        <p:spPr bwMode="auto">
          <a:xfrm>
            <a:off x="365760" y="36118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500" b="0" i="1">
                <a:solidFill>
                  <a:srgbClr val="5BB4F5"/>
                </a:solidFill>
              </a:rPr>
              <a:t>PPGCC — UFPI · Redes de Computadores · Fase 2</a:t>
            </a:r>
            <a:endParaRPr/>
          </a:p>
        </p:txBody>
      </p:sp>
      <p:sp>
        <p:nvSpPr>
          <p:cNvPr id="54087916" name="TextBox 7"/>
          <p:cNvSpPr txBox="1"/>
          <p:nvPr/>
        </p:nvSpPr>
        <p:spPr bwMode="auto">
          <a:xfrm>
            <a:off x="365760" y="5166360"/>
            <a:ext cx="11430360" cy="338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 b="0" i="0">
                <a:solidFill>
                  <a:srgbClr val="FFFFFF"/>
                </a:solidFill>
              </a:rPr>
              <a:t>🔗  </a:t>
            </a:r>
            <a:r>
              <a:rPr lang="en-US" sz="1600" b="0" i="0" u="none" strike="noStrike" cap="none" spc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https://github.com/Anth0nYM/redes-de-computadores-dccmapi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3</cp:revision>
  <dcterms:created xsi:type="dcterms:W3CDTF">2013-01-27T09:14:16Z</dcterms:created>
  <dcterms:modified xsi:type="dcterms:W3CDTF">2026-06-29T14:50:43Z</dcterms:modified>
  <cp:category/>
</cp:coreProperties>
</file>