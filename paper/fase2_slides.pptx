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5394960"/>
            <a:ext cx="12191695" cy="146304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704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 Prática à Modelagem Estocástica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Validação Cruzada de um Protocolo R-UDP Go-Back-N
entre Emulação e Simulação de Eventos Discretos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200400"/>
            <a:ext cx="11430000" cy="0"/>
          </a:xfrm>
          <a:prstGeom prst="line">
            <a:avLst/>
          </a:prstGeom>
          <a:ln w="25400">
            <a:solidFill>
              <a:srgbClr val="E0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383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Anthony Irlan Marques Luz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B4F5"/>
                </a:solidFill>
              </a:rPr>
              <a:t>PPGCC — Universidade Federal do Piauí (UFPI) | Picos–PI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Redes de Computadores · Fase 2 ·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B4F5"/>
                </a:solidFill>
              </a:rPr>
              <a:t>🔗 github.com/PLACEHOLDER-REPOSITORIO
▶ youtube.com/PLACEHOLDER-VIDEO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9844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1. Motivação e contribuições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2344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1–2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00253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2. Sistema real: Docker + tc/netem + GBN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9385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4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0662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3. Modelo estocástico de eventos discretos (SimPy)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426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92424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1071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467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4. Calibração e convergência estatística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34670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4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96511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1148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50791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5. As 10 tarefas de validação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5079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12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8188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6. Discussão: teoria vs. prática de rede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754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2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04688"/>
            <a:ext cx="320040" cy="43891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52297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7. Conclusão e trabalhos futuros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4589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1A6BB0"/>
                </a:solidFill>
              </a:rPr>
              <a:t>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1. 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Por que modelar R-UDP com eventos discretos?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Motivação e Pergunta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6C0A"/>
                </a:solidFill>
              </a:rPr>
              <a:t>Questão de pesquisa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105156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Um modelo estocástico parcimonioso — sem fatores de ajuste — consegue reproduzir
o comportamento real de um protocolo R-UDP GBN sobre uma faixa de 200× nos tempos de transferência?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Confiabilidade pode ser implementada sobre UDP (R-UDP) em espaço de usuário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Isso expõe diretamente os mecanismos GBN: janela, timeout, retransmissão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Medições em Docker/tc-netem proveem linha de base empírica confiável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Simulador validado → explorar pontos não medidos sem novos experimentos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Quatro Contribuições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658368" cy="77724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2A4A"/>
                </a:solidFill>
              </a:rPr>
              <a:t>Motor GBN de eventos discretos em SimPy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18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Tempo e retransmissões emergem da dinâmica de eventos — sem equações fechadas ad hoc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41448"/>
            <a:ext cx="658368" cy="77724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87168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41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2A4A"/>
                </a:solidFill>
              </a:rPr>
              <a:t>Calibração em faixa de 200×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1693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Erro entre 1,0% e 7,4% ao longo de 0,67 s a 145 s; análise por IC bootstrap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39896"/>
            <a:ext cx="658368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85615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398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2A4A"/>
                </a:solidFill>
              </a:rPr>
              <a:t>10 tarefas de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15383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Cada tarefa confrontada com limite analítico: teto janela/RTT, BDP, lei 1/(1−p)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38344"/>
            <a:ext cx="658368" cy="77724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084064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383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2A4A"/>
                </a:solidFill>
              </a:rPr>
              <a:t>Diagnóstico das discrepâncias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1383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Identifica onde a teoria estocástica diverge da prática e por quê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2. Sistema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Protocolo R-UDP GBN + Docker + tc/netem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do Sistema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Infraestrutura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Dois contêineres Ubuntu 22.04 em rede bridge isolada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tc/netem injeta perda e atraso no egress do cliente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Protocolo implementado em Python sobre raw UDP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Integridade verificada por checksum MD5 fim-a-fim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51560"/>
            <a:ext cx="56692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B0"/>
                </a:solidFill>
              </a:rPr>
              <a:t>Diagrama simplificado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2A4A"/>
                </a:solidFill>
              </a:rPr>
              <a:t>┌─────────────┐         ┌─────────────┐
│   CLIENTE   │──DATA──▶│  SERVIDOR   │
│  (sender)   │◀──ACK───│  (receiver) │
└─────────────┘         └─────────────┘
       │                      │
  tc/netem                    │
 (perda + atraso)             │
       │_________Docker_______|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6C0A"/>
                </a:solidFill>
              </a:rPr>
              <a:t>Arquivo de teste: 1 MiB = 256 blocos × 4 096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Protocolo Go-Back-N: Parâmetros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16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Cabeçalho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143000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21615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16 bytes: tipo, seq, ack, janela, comprimento, CRC-16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Janela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984248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0574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N = 8 pacotes em voo simultâneos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25496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98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825496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89864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0,5 s fixo — retransmite toda a janela a partir da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66744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398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Handshake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666744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3739896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SYN / SYN-ACK → dados → FIN / FIN-ACK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07992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8114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4507992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58114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Cumulativos — um ACK confirma tudo até o seq recebido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2560320" cy="5943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4223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Arquivo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5349240"/>
            <a:ext cx="87782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542239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1 MiB, 256 blocos de 4 096 bytes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Fragmentação IP → Perda Efetiva por Bloco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Fragmentação IP → Perda Efetiva por 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Cada datagrama DATA = 4 112 bytes &gt; MTU Ethernet (1 500 bytes)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→ fragmentado em 3 pacotes IP pelo sistema operacional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netem descarta cada pacote IP com probabilidade p (independente)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Um bloco é entregue só se todos os 3 fragmentos sobreviverem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03320"/>
            <a:ext cx="6858000" cy="118872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p_ef  =  1 − (1 − p)³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B4F5"/>
                </a:solidFill>
              </a:rPr>
              <a:t>p = probabilidade netem por pacote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051560"/>
            <a:ext cx="43891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B0"/>
                </a:solidFill>
              </a:rPr>
              <a:t>Conversão de perda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2A4A"/>
                </a:solidFill>
              </a:rPr>
              <a:t>Cenário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2A4A"/>
                </a:solidFill>
              </a:rPr>
              <a:t>p bruta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2A4A"/>
                </a:solidFill>
              </a:rPr>
              <a:t>p_ef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1965960"/>
            <a:ext cx="4297680" cy="0"/>
          </a:xfrm>
          <a:prstGeom prst="line">
            <a:avLst/>
          </a:prstGeom>
          <a:ln w="12700">
            <a:solidFill>
              <a:srgbClr val="10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43800" y="2011680"/>
            <a:ext cx="4297680" cy="71323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057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2A4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57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</a:rPr>
              <a:t>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057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B4C"/>
                </a:solidFill>
              </a:rPr>
              <a:t>0,0 %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2816352"/>
            <a:ext cx="42976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8620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2A4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620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</a:rPr>
              <a:t>10 %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8620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6C0A"/>
                </a:solidFill>
              </a:rPr>
              <a:t>27,1 %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3621024"/>
            <a:ext cx="4297680" cy="71323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6667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2A4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6667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</a:rPr>
              <a:t>20 %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6667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6C0A"/>
                </a:solidFill>
              </a:rPr>
              <a:t>48,8 %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Cenários e Linha de Base Empírica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Parâmetros de rede (tc/netem)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64008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490472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37160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490472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Perda bruta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137160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1490472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Atraso 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463040"/>
            <a:ext cx="137160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490472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RTT = 2μ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463040"/>
            <a:ext cx="137160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490472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p_ef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64008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29967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965960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029967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65960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4872" y="2029967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10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1965960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029967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20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965960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2029967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0,0 %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32888"/>
            <a:ext cx="640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596896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253288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259689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53288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4872" y="259689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50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53288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259689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100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53288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8072" y="259689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6C0A"/>
                </a:solidFill>
              </a:rPr>
              <a:t>27,1 %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99815"/>
            <a:ext cx="64008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163823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3099815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" y="3163823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20 %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099815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3163823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100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099815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76472" y="3163823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200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099815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8072" y="3163823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6C0A"/>
                </a:solidFill>
              </a:rPr>
              <a:t>48,8 %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Medições reais (média n=10)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1463040"/>
            <a:ext cx="64008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02552" y="1490472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1463040"/>
            <a:ext cx="146304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2631" y="1490472"/>
            <a:ext cx="1408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Tempo (s)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1463040"/>
            <a:ext cx="164592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05672" y="1490472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Vazão (KB/s)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1463040"/>
            <a:ext cx="118872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51592" y="149047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612880" y="1463040"/>
            <a:ext cx="1371600" cy="4572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40312" y="1490472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Overhead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1965960"/>
            <a:ext cx="64008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02552" y="2029967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1965960"/>
            <a:ext cx="146304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42631" y="2029967"/>
            <a:ext cx="1408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0,676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1965960"/>
            <a:ext cx="164592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05672" y="2029967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1 515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1965960"/>
            <a:ext cx="118872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51592" y="2029967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0,0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612880" y="1965960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40312" y="2029967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1,0×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2532888"/>
            <a:ext cx="640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02552" y="2596896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2532888"/>
            <a:ext cx="1463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42631" y="2596896"/>
            <a:ext cx="1408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53,165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8240" y="25328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05672" y="2596896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19,5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24160" y="2532888"/>
            <a:ext cx="11887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51592" y="2596896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91,1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612880" y="253288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640312" y="259689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6C0A"/>
                </a:solidFill>
              </a:rPr>
              <a:t>3,8×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3099815"/>
            <a:ext cx="64008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02552" y="3163823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2A4A"/>
                </a:solidFill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0" y="3099815"/>
            <a:ext cx="146304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42631" y="3163823"/>
            <a:ext cx="1408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144,613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78240" y="3099815"/>
            <a:ext cx="164592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05672" y="3163823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7,1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4160" y="3099815"/>
            <a:ext cx="118872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51592" y="3163823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238,5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612880" y="3099815"/>
            <a:ext cx="1371600" cy="530352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640312" y="3163823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6C0A"/>
                </a:solidFill>
              </a:rPr>
              <a:t>8,4×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3749039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6C0A"/>
                </a:solidFill>
              </a:rPr>
              <a:t>Faixa de 200× no tempo de transferência: de 0,67 s (A) a 144,6 s (C)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444444"/>
                </a:solidFill>
              </a:rPr>
              <a:t>▸ Cenário A: sem perda — transferência rápida, 1× overhead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444444"/>
                </a:solidFill>
              </a:rPr>
              <a:t>▸ Cenário C: p_ef = 48,8% — overhead de 8,4×, quase 2,5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3. Modelo Estocástico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Simulação de Eventos Discretos com SimPy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Por que Simulação de Eventos Discretos?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Vantagens para GBN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Estado muda apenas em instantes de eventos agendados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Relógio avança direto de evento a evento → eficiente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Captura sobreposição de pacotes em voo dentro da janela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ACKs cumulativos e cascatas de timeout emergem naturalmente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Sem aproximação por rodadas síncronas, sem fatores empíricos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051560"/>
            <a:ext cx="4572000" cy="4114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097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0A"/>
                </a:solidFill>
              </a:rPr>
              <a:t>Três classes de eventos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6C0A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Chegada de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305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B4F5"/>
                </a:solidFill>
              </a:rPr>
              <a:t>bloco recebido pelo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6C0A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88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Chegada de 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227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B4F5"/>
                </a:solidFill>
              </a:rPr>
              <a:t>janela avança, timer reinicia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6C0A"/>
                </a:solidFill>
              </a:rP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Disparo de 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251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B4F5"/>
                </a:solidFill>
              </a:rPr>
              <a:t>retransmissão a partir da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A6BB0"/>
                </a:solidFill>
              </a:rPr>
              <a:t>SimPy: biblioteca Python de simulação de eventos discretos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Modelo de Canal: Atraso + Perda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486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Atraso unidirecional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6BB0"/>
                </a:solidFill>
              </a:rPr>
              <a:t>D ~ 𝒩(μ, σ²)     RTT = 2μ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μ = atraso médio do cenário (10 / 50 / 100 ms)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σ = jitter (avaliado em D7)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Amostras negativas truncadas em 0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Ordem preservada no enlace (anti-reordenação)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51560"/>
            <a:ext cx="5486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155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Perda por bloco (Bernoulli)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6C0A"/>
                </a:solidFill>
              </a:rPr>
              <a:t>P(perda) = p_ef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Descarte independente por bloco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p_ef = 1 − (1−p)³  (fragmentação IP)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ACKs: entregues com confiabilidade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Simplificação discutida na Seção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11430000" cy="100584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</a:rPr>
              <a:t>Os dois processos são independentes entre si — o modelo não captura correlação entre perda e atraso nem perda de ACKs. Essas simplificações são analisadas na discussão.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Motor Go-Back-N Orientado a Eventos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97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2A4A"/>
                </a:solidFill>
              </a:rPr>
              <a:t>Emissor preenche janela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270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Envia até N blocos em paralelo, agendando chegada no receptor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39696"/>
            <a:ext cx="640080" cy="64008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85415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3969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2A4A"/>
                </a:solidFill>
              </a:rPr>
              <a:t>Aguarda o primeiro evento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ACK que avança a base  OU  disparo do timer (timeout = 0,5 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82111"/>
            <a:ext cx="640080" cy="6400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27831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8211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2A4A"/>
                </a:solidFill>
              </a:rPr>
              <a:t>ACK recebido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Base da janela avança; timer é reiniciado; novos blocos preenchem a janela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24528"/>
            <a:ext cx="640080" cy="64008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70248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24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2A4A"/>
                </a:solidFill>
              </a:rPr>
              <a:t>Timer expirou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542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Retransmite todos os blocos a partir da base — comportamento clássico GBN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66944"/>
            <a:ext cx="640080" cy="6400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12664"/>
            <a:ext cx="640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2A4A"/>
                </a:solidFill>
              </a:rPr>
              <a:t>Fim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696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Todos os 256 blocos confirmados → transferência encerrada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Mapeamento Real → Simulado &amp; TDD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6692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B0"/>
                </a:solidFill>
              </a:rPr>
              <a:t>Parâmetros diretos do sistema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Janela 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66543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Timeout: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66543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0,5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Bloco: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78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4 096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Blocos: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906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256 por arquivo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RTT: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027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20 / 100 / 200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p_ef: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0 / 27,1 / 48,8 %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268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4A"/>
                </a:solidFill>
              </a:rPr>
              <a:t>Ajustes: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268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6C0A"/>
                </a:solidFill>
              </a:rPr>
              <a:t>NENHUM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51560"/>
            <a:ext cx="5486400" cy="4114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6C0A"/>
                </a:solidFill>
              </a:rPr>
              <a:t>Desenvolvimento Guiado por Testes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51 testes unitários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67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B4F5"/>
                </a:solidFill>
              </a:rPr>
              <a:t>✓  Taxa de perda empírica ≈ p_ef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340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B4F5"/>
                </a:solidFill>
              </a:rPr>
              <a:t>✓  256 blocos entregues íntegros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0098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B4F5"/>
                </a:solidFill>
              </a:rPr>
              <a:t>✓  0 retransmissões sem perda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679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B4F5"/>
                </a:solidFill>
              </a:rPr>
              <a:t>✓  RTT simulado ≈ 2μ configurado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B4F5"/>
                </a:solidFill>
              </a:rPr>
              <a:t>✓  Sementes fixas → reprodutível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4. Calibração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Simulador vs. sistema real em 3 cenários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de Calibração (30 repetições)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IC 95% por bootstrap percentílico (efron 1993)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64008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99032"/>
            <a:ext cx="58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19" y="1371600"/>
            <a:ext cx="128016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1" y="1399032"/>
            <a:ext cx="122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 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371600"/>
            <a:ext cx="128016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1" y="1399032"/>
            <a:ext cx="122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Sim. 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371600"/>
            <a:ext cx="283464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1" y="1399032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IC 95% 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1371600"/>
            <a:ext cx="109728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399032"/>
            <a:ext cx="1042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Erro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1371600"/>
            <a:ext cx="201168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1" y="1399032"/>
            <a:ext cx="1956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Retx R/S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39" y="1371600"/>
            <a:ext cx="1645920" cy="475488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1" y="1399032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 no IC?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892807"/>
            <a:ext cx="6400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002536"/>
            <a:ext cx="585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2A4A"/>
                </a:solidFill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19" y="1892807"/>
            <a:ext cx="128016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" y="2002536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0,676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79" y="1892807"/>
            <a:ext cx="128016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67711" y="2002536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0,669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1892807"/>
            <a:ext cx="283464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1" y="2002536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[0,668 ; 0,671]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79" y="1892807"/>
            <a:ext cx="10972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002536"/>
            <a:ext cx="1042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6C0A"/>
                </a:solidFill>
              </a:rPr>
              <a:t>−1,0 %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59" y="1892807"/>
            <a:ext cx="20116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1" y="2002536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0,0 / 0,0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39" y="1892807"/>
            <a:ext cx="164592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1471" y="2002536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não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697479"/>
            <a:ext cx="640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807208"/>
            <a:ext cx="585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2A4A"/>
                </a:solidFill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19" y="2697479"/>
            <a:ext cx="1280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" y="2807208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53,165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79" y="2697479"/>
            <a:ext cx="1280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67711" y="2807208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57,088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39" y="2697479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1" y="2807208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[55,197 ; 58,942]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79" y="2697479"/>
            <a:ext cx="1097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2807208"/>
            <a:ext cx="1042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6C0A"/>
                </a:solidFill>
              </a:rPr>
              <a:t>+7,4 %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59" y="2697479"/>
            <a:ext cx="2011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1" y="2807208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91,1 / 98,0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4039" y="2697479"/>
            <a:ext cx="1645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1" y="2807208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6C0A"/>
                </a:solidFill>
              </a:rPr>
              <a:t>não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502152"/>
            <a:ext cx="6400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611880"/>
            <a:ext cx="585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2A4A"/>
                </a:solidFill>
              </a:rPr>
              <a:t>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19" y="3502152"/>
            <a:ext cx="128016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1" y="3611880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144,613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79" y="3502152"/>
            <a:ext cx="128016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67711" y="3611880"/>
            <a:ext cx="122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148,788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39" y="3502152"/>
            <a:ext cx="283464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47871" y="361188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[144,046 ; 153,388]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79" y="3502152"/>
            <a:ext cx="10972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3611880"/>
            <a:ext cx="1042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6C0A"/>
                </a:solidFill>
              </a:rPr>
              <a:t>+2,9 %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59" y="3502152"/>
            <a:ext cx="201168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79791" y="3611880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238,5 / 245,6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64039" y="3502152"/>
            <a:ext cx="1645920" cy="749808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1" y="3611880"/>
            <a:ext cx="1591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sim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434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6C0A"/>
                </a:solidFill>
              </a:rPr>
              <a:t>Faixa de ~200× no tempo de transferência coberta com erro &lt; 7,5%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Convergência Estatística: IC Bootstrap 95%</a:t>
            </a:r>
          </a:p>
        </p:txBody>
      </p:sp>
      <p:pic>
        <p:nvPicPr>
          <p:cNvPr id="4" name="Picture 3" descr="fase2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6727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806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</a:rPr>
              <a:t>Cenário C: valor real DENTRO do IC. Cenários A e B: viés sistemático pequeno — analisado na Seção 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Análise dos Erros Residuais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09728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Cenário A (−1,0%)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Simulador mais rápido — omite custos fixos de handshake, scheduling de sockets e encerramento. Esses efeitos dominam em transferências sub-segundo.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109728" cy="128016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6C0A"/>
                </a:solidFill>
              </a:rPr>
              <a:t>Cenário B (+7,4%)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278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Maior viés: perda intermediária amplifica efeitos de segunda ordem como correlação de perdas, comportamento real de ACKs e distribuição empírica do atraso.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109728" cy="128016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BB0"/>
                </a:solidFill>
              </a:rPr>
              <a:t>Cenário C (+2,9%)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19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Perda severa → cascatas de timeout dominam o comportamento tanto no modelo quanto no sistema real → menor influência dos efeitos de segunda ordem.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102A4A"/>
                </a:solidFill>
              </a:rPr>
              <a:t>Conclusão parcial: o modelo é parcimonioso e sem ajuste — os erros são informativos, não aleatórios.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5. As 10 Tarefas de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Cada tarefa confrontada com um limite analítico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Mapa das 10 Tarefas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731520" cy="685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2471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051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Modelagem de atraso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canal + calibração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73152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2471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051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Perda Bernoulli vs. tc/netem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481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canal + calibração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731520" cy="685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7627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Simulação de timeout e retransmissão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53288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motor + calibração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73152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7627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Curva de vazão 1–100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53288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seguinte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54679"/>
            <a:ext cx="731520" cy="685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2783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15467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Sensibilidade ao tamanho da janela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seguinte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154679"/>
            <a:ext cx="73152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22783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15467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Validação de RTT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mapeamento + calibração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731520" cy="685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7939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2062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Impacto do jitter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463600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seguinte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06240"/>
            <a:ext cx="73152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27939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2062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Estresse com 25% de perda bruta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63600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seguinte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731520" cy="685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33095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5257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Eficiência DADOS/ACK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5687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seguinte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257800"/>
            <a:ext cx="731520" cy="6858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330952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257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2A4A"/>
                </a:solidFill>
              </a:rPr>
              <a:t>Convergência estatística IC 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5687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→ slide anterior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D1 + D2 + D3: Canal, Perda e Timeout (Calibração)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D1 — Atraso Normal: RTT simulado = 2μ configurado em todos os cenários (verificado por testes unitários)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D2 — Perda Bernoulli: taxa empírica do canal ≈ p_ef; p_ef confirmada contra medições reais de fragmentação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D3 — Timeout/retransmissão: sem perda → 0 retransmissões ✓; com perda → contagens próximas das medições reais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11430000" cy="9144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519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Essas três tarefas são implicitamente validadas pela calibração: erro 1–7% em faixa de 200× só é possível se atraso, perda e timeout estiverem corretos.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D4: Curva de Vazão — 1 a 100 MB</a:t>
            </a:r>
          </a:p>
        </p:txBody>
      </p:sp>
      <p:pic>
        <p:nvPicPr>
          <p:cNvPr id="4" name="Picture 3" descr="fase2_vazao_tama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9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0515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Interpretação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Teto teórico: S_max = N·L/RTT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Cenário A: satura em ≈97% do teto de 1 600 KB/s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Real: 1 515 KB/s — compatível ✓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Cenário B: perda domina → estabiliza em ≈19 KB/s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Teto nominal B = 320 KB/s, mas GBN desperdiça janelas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Curva sobe com o arquivo: custo fixo diluído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D5: Sensibilidade ao Tamanho da Janela N</a:t>
            </a:r>
          </a:p>
        </p:txBody>
      </p:sp>
      <p:pic>
        <p:nvPicPr>
          <p:cNvPr id="4" name="Picture 3" descr="fase2_j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9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0515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Produto Banda-Atraso (BDP)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Gargalo explícito: B = 2 000 KB/s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BDP = B·RTT = 2000×0,02 = 40 KB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N* = BDP/L = 40 KB / 4 KB = 10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Joelho medido: N = 12 (95% de S_max)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Compatível com a previsão analítica ✓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Acima de N* → saturação na banda do enlace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444444"/>
                </a:solidFill>
              </a:rPr>
              <a:t>▸ Abaixo de N* → crescimento quase linear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D6: Validação de RTT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RTT no modelo = RTT medido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Parâmetro RTT configurado diretamente como 2μ nos três cenários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Medições reais por tcpdump: 20 ms (A), 100 ms (B), 200 ms (C)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Simulador usa os mesmos valores → validação por construção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Testes unitários verificam que a média dos atrasos amostrados ≈ μ configurado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2A4A"/>
                </a:solidFill>
              </a:rPr>
              <a:t>Qual a importância do RTT para o GBN?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O RTT é o denominador do teto de vazão: S_max = N·L/RTT.
Um RTT errado em 10% causa erro de 10% na previsão de vazão.
Por isso o mapeamento direto (sem ajuste) é fundamental.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D7: Impacto do Jitter na Transferência</a:t>
            </a:r>
          </a:p>
        </p:txBody>
      </p:sp>
      <p:pic>
        <p:nvPicPr>
          <p:cNvPr id="4" name="Picture 3" descr="fase2_ji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9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05156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Resultado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σ variado de 1 a 80 ms; sem perdas; RTT = 100 ms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Dispersão: de 0,002 s (σ=1) a 0,19 s (σ=80)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Média também cresce: 0,81 s → 1,96 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Por quê a média sobe?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→ Ordem preservada no enlace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→ Fim de rodada ≡ maior atraso da janela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→ E[max] cresce com σ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Jitter eleva tanto variância quanto tendência central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D8: Cenário de Estresse — 25% de Perda Bruta</a:t>
            </a:r>
          </a:p>
        </p:txBody>
      </p:sp>
      <p:pic>
        <p:nvPicPr>
          <p:cNvPr id="4" name="Picture 3" descr="fase2_estr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9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Extrapolação validada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p_bruta = 25%  →  p_ef = 1−(0,75)³ = 57,8%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Atraso = 100 ms (igual ao cenário C)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Ancoragem: cenário C (20%) → 146 s vs. 144,6 s real ✓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Previsão para 25%: ≈ 213 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IC 95%: [207 ; 218] 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Aumento de ≈47% em relação ao cenário C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Tendência monotônica mantida 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D9: Eficiência DADOS/ACK pela Lei 1/(1−p_ef)</a:t>
            </a:r>
          </a:p>
        </p:txBody>
      </p:sp>
      <p:pic>
        <p:nvPicPr>
          <p:cNvPr id="4" name="Picture 3" descr="fase2_efic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32320" cy="509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0515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02A4A"/>
                </a:solidFill>
              </a:rPr>
              <a:t>Resultados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Lei analítica: DADOS/ACK = 1/(1−p_ef)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Cen. A: simulado 1,00 vs. analítico 1,000 ✓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Cen. B: simulado 1,38 vs. analítico 1,372 ✓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Cen. C: simulado 1,96 vs. analítico 1,953 ✓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Degradação monotônica com a perda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444444"/>
                </a:solidFill>
              </a:rPr>
              <a:t>▸ Validação interna do motor instrumentado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5303520"/>
            <a:ext cx="4389120" cy="9144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34924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DADOS/ACK = 1 / (1 − p_ef)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Panorama: As 10 Tarefas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024128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Atraso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444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RTT ≈ 2μ em todos os cenários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24128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1556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024128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Perda Bernoulli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444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taxa empírica ≈ p_ef; p_ef ≈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66543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5798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066543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Timeout/retransmissão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48716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0 retx sem perda; compatível com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066543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5798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066543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Curva de vazão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48716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A satura em 97% teto; B limitado por perda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00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108960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Sensibilidade janela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52958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joelho em N=12; BDP prevê N*=10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08960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200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108960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Validação RTT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52958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mapeamento direto; validado por construção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51376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4281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151376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Jitter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45720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dispersão e média crescem com 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151376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24281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151376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Estresse 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5720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previsão 213 s compatível com tendência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193792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285231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193792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Eficiência DADOS/ACK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561441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segue lei 1/(1−p_ef) com &lt; 0,5% de erro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193792"/>
            <a:ext cx="68580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5285231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5193792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4A"/>
                </a:solidFill>
              </a:rPr>
              <a:t>Convergência 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561441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✓ C coberto; A e B com viés sistemático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6. Discussão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Teoria estocástica vs. prática de rede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 que o Modelo Captura Bem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1E8B4C"/>
                </a:solidFill>
              </a:rPr>
              <a:t>Concordâncias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444444"/>
                </a:solidFill>
              </a:rPr>
              <a:t>▸ Tempo de transferência em faixa de 200× com erro &lt; 7,5%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444444"/>
                </a:solidFill>
              </a:rPr>
              <a:t>▸ Contagens de retransmissão próximas das medições reais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444444"/>
                </a:solidFill>
              </a:rPr>
              <a:t>▸ Vazão e eficiência compatíveis com limites analíticos independentes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444444"/>
                </a:solidFill>
              </a:rPr>
              <a:t>▸ Todos os 10 experimentos consistentes com propriedades esperadas do protocolo</a:t>
            </a:r>
          </a:p>
          <a:p>
            <a:pPr algn="l">
              <a:spcBef>
                <a:spcPts val="300"/>
              </a:spcBef>
            </a:pPr>
            <a:r>
              <a:rPr sz="1800">
                <a:solidFill>
                  <a:srgbClr val="444444"/>
                </a:solidFill>
              </a:rPr>
              <a:t>▸ Mesma estrutura para calibração, varreduras e extrapolação — sem re-ajuste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663440"/>
            <a:ext cx="1143000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7091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Unidade metodológica: tempo e retransmissões emergem da mesma dinâmica de eventos em todos os experimentos.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Limitações e Discrepâncias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09728" cy="96012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6C0A"/>
                </a:solidFill>
              </a:rPr>
              <a:t>Viés no cenário B (+7,4%)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Perda moderada amplifica correlação de perdas, distribuição real do atraso e dinâmica dos ACKs — não modelados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68296"/>
            <a:ext cx="109728" cy="96012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6829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6C0A"/>
                </a:solidFill>
              </a:rPr>
              <a:t>Aceleração no cenário A (−1,0%)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2549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Custos fixos de handshake, encerramento e escalonamento omitidos — relevantes apenas em transferências &lt; 1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85031"/>
            <a:ext cx="109728" cy="96012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6C0A"/>
                </a:solidFill>
              </a:rPr>
              <a:t>Perda de ACKs não modelada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1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GBN cumulativo atenua o impacto, mas pode distorcer a contagem de retransmissões em perda assimétrica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01768"/>
            <a:ext cx="109728" cy="96012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01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6C0A"/>
                </a:solidFill>
              </a:rPr>
              <a:t>Perda Bernoulli i.i.d.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5896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Ignora correlação em rajada; modelo Gilbert-Elliott seria mais fiel a certos enlaces reais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7.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B4F5"/>
                </a:solidFill>
              </a:rPr>
              <a:t>Resultados e próximos passos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Modelo parcimonioso e sem fatores de ajuste reproduz o sistema real em faixa de 200×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Erros relativos entre 1,0% e 7,4%; cenário de alta perda coberto por IC bootstrap 95%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10 tarefas de validação satisfeitas — consistentes com limites analíticos independentes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Resíduos são informativos: localizam onde teoria estocástica diverge da prática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444444"/>
                </a:solidFill>
              </a:rPr>
              <a:t>▸ 51 testes unitários garantem correção e reprodutibilidade dos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754880"/>
            <a:ext cx="11430000" cy="14630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28032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Um modelo estocástico de eventos discretos pode aproximar o comportamento de um protocolo R-UDP GBN real — dentro dos limites das simplificações adotadas.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Trabalhos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24712"/>
            <a:ext cx="347472" cy="34747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338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0515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Selective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5087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Implementar SR e comparar goodput com GBN sob diferentes regimes de perda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21991"/>
            <a:ext cx="347472" cy="34747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31135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4883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Perda de 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06039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Modelar explicitamente e avaliar impacto em cenários de perda assimétrica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19272"/>
            <a:ext cx="347472" cy="34747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28415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246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Perda correlacionada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703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Substituir Bernoulli por Gilbert-Elliott e testar hipótese do viés no cenário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16552"/>
            <a:ext cx="347472" cy="34747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42569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3434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Distribuição empírica do atraso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800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Ajustar a distribuição de atraso à lei real produzida pelo tc/netem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13831"/>
            <a:ext cx="347472" cy="347472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22975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44067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A4A"/>
                </a:solidFill>
              </a:rPr>
              <a:t>Calibração multiponto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897879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Testes pareados ou de equivalência para validação estatística mais abrangente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5029200"/>
            <a:ext cx="12191695" cy="1828800"/>
          </a:xfrm>
          <a:prstGeom prst="rect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Obrigado!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880360"/>
            <a:ext cx="7589520" cy="0"/>
          </a:xfrm>
          <a:prstGeom prst="line">
            <a:avLst/>
          </a:prstGeom>
          <a:ln w="38100">
            <a:solidFill>
              <a:srgbClr val="E0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BB4F5"/>
                </a:solidFill>
              </a:rPr>
              <a:t>Anthony Irlan Marques Luz · marquesanthony62@gmail.com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BB4F5"/>
                </a:solidFill>
              </a:rPr>
              <a:t>PPGCC — UFPI · Redes de Computadores ·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🔗  github.com/PLACEHOLDER-REPOSITORIO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▶  youtube.com/PLACEHOLDER-VIDEO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